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0:00–0:50 · Krish Goyal, Team Vishwakarma Devs. KisanVaani — farm advisor on any phone. No app, no internet, no reading. Four things: call or text, own language, crop photo, early block warning. Numbers show why: 14.6 crore holdings, advice often from dealers not officers, extension stretched thin, huge avoidable crop loss. Live today. Extends government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0:50–1:55 · Live system. Call +1 254 272 6372. [Telugu cotton yellow leaves.] Answers in Telugu. Four layers: access any phone, ground in local data, guard with expert handoff, learn for block alerts. Control room and farmer demo are real. Open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1:55–3:00 · Under twelve rupees per farmer per season. About twenty-five to one if we prevent a tenth of average crop loss—conservative against Gujarat field trials. Pilot five lakh, two seasons, twenty thousand farmers, Narasaraopet this rabi. Five asks, no new scheme. We deliver onboarding, SOP, dashboard, evidence report. Measure against control blocks, publish either way. Nominate the block. Judge the evidence. Dhanyavaad.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22"/>
        </a:solidFill>
      </p:bgPr>
    </p:bg>
    <p:spTree>
      <p:nvGrpSpPr>
        <p:cNvPr id="1" name=""/>
        <p:cNvGrpSpPr/>
        <p:nvPr/>
      </p:nvGrpSpPr>
      <p:grpSpPr>
        <a:xfrm>
          <a:off x="0" y="0"/>
          <a:ext cx="0" cy="0"/>
          <a:chOff x="0" y="0"/>
          <a:chExt cx="0" cy="0"/>
        </a:xfrm>
      </p:grpSpPr>
      <p:sp>
        <p:nvSpPr>
          <p:cNvPr id="2" name="Shape 0"/>
          <p:cNvSpPr/>
          <p:nvPr/>
        </p:nvSpPr>
        <p:spPr>
          <a:xfrm>
            <a:off x="594360" y="347472"/>
            <a:ext cx="54864" cy="219456"/>
          </a:xfrm>
          <a:prstGeom prst="rect">
            <a:avLst/>
          </a:prstGeom>
          <a:solidFill>
            <a:srgbClr val="E9A91B"/>
          </a:solidFill>
          <a:ln w="12700">
            <a:solidFill>
              <a:srgbClr val="E9A91B"/>
            </a:solidFill>
            <a:prstDash val="solid"/>
          </a:ln>
        </p:spPr>
      </p:sp>
      <p:sp>
        <p:nvSpPr>
          <p:cNvPr id="3" name="Text 1"/>
          <p:cNvSpPr/>
          <p:nvPr/>
        </p:nvSpPr>
        <p:spPr>
          <a:xfrm>
            <a:off x="749808" y="320040"/>
            <a:ext cx="2011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KISANVAANI</a:t>
            </a:r>
            <a:endParaRPr lang="en-US" sz="1200" dirty="0"/>
          </a:p>
        </p:txBody>
      </p:sp>
      <p:sp>
        <p:nvSpPr>
          <p:cNvPr id="4" name="Text 2"/>
          <p:cNvSpPr/>
          <p:nvPr/>
        </p:nvSpPr>
        <p:spPr>
          <a:xfrm>
            <a:off x="7498080" y="347472"/>
            <a:ext cx="4114800" cy="219456"/>
          </a:xfrm>
          <a:prstGeom prst="rect">
            <a:avLst/>
          </a:prstGeom>
          <a:noFill/>
          <a:ln/>
        </p:spPr>
        <p:txBody>
          <a:bodyPr wrap="square" lIns="0" tIns="0" rIns="0" bIns="0" rtlCol="0" anchor="ctr"/>
          <a:lstStyle/>
          <a:p>
            <a:pPr algn="r" indent="0" marL="0">
              <a:buNone/>
            </a:pPr>
            <a:r>
              <a:rPr lang="en-US" sz="850" dirty="0">
                <a:solidFill>
                  <a:srgbClr val="D8E4DA"/>
                </a:solidFill>
                <a:latin typeface="Arial" pitchFamily="34" charset="0"/>
                <a:ea typeface="Arial" pitchFamily="34" charset="-122"/>
                <a:cs typeface="Arial" pitchFamily="34" charset="-120"/>
              </a:rPr>
              <a:t>VISHWAKARMA DEVS  ·  KISAN ALERT WINNER</a:t>
            </a:r>
            <a:endParaRPr lang="en-US" sz="850" dirty="0"/>
          </a:p>
        </p:txBody>
      </p:sp>
      <p:sp>
        <p:nvSpPr>
          <p:cNvPr id="5" name="Text 3"/>
          <p:cNvSpPr/>
          <p:nvPr/>
        </p:nvSpPr>
        <p:spPr>
          <a:xfrm>
            <a:off x="594360" y="804672"/>
            <a:ext cx="9144000" cy="219456"/>
          </a:xfrm>
          <a:prstGeom prst="rect">
            <a:avLst/>
          </a:prstGeom>
          <a:noFill/>
          <a:ln/>
        </p:spPr>
        <p:txBody>
          <a:bodyPr wrap="square" lIns="0" tIns="0" rIns="0" bIns="0" rtlCol="0" anchor="ctr"/>
          <a:lstStyle/>
          <a:p>
            <a:pPr indent="0" marL="0">
              <a:buNone/>
            </a:pPr>
            <a:r>
              <a:rPr lang="en-US" sz="1050" b="1" spc="80" kern="0" dirty="0">
                <a:solidFill>
                  <a:srgbClr val="E9A91B"/>
                </a:solidFill>
                <a:latin typeface="Arial" pitchFamily="34" charset="0"/>
                <a:ea typeface="Arial" pitchFamily="34" charset="-122"/>
                <a:cs typeface="Arial" pitchFamily="34" charset="-120"/>
              </a:rPr>
              <a:t>THE SOLUTION  ·  ANY PHONE  ·  LIVE TODAY</a:t>
            </a:r>
            <a:endParaRPr lang="en-US" sz="1050" dirty="0"/>
          </a:p>
        </p:txBody>
      </p:sp>
      <p:sp>
        <p:nvSpPr>
          <p:cNvPr id="6" name="Text 4"/>
          <p:cNvSpPr/>
          <p:nvPr/>
        </p:nvSpPr>
        <p:spPr>
          <a:xfrm>
            <a:off x="594360" y="1097280"/>
            <a:ext cx="10972800" cy="105156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A farm advisor that works on any phone—</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no app, no internet, no reading needed.</a:t>
            </a:r>
            <a:endParaRPr lang="en-US" sz="3200" dirty="0"/>
          </a:p>
        </p:txBody>
      </p:sp>
      <p:sp>
        <p:nvSpPr>
          <p:cNvPr id="7" name="Text 5"/>
          <p:cNvSpPr/>
          <p:nvPr/>
        </p:nvSpPr>
        <p:spPr>
          <a:xfrm>
            <a:off x="594360" y="2240280"/>
            <a:ext cx="10515600" cy="502920"/>
          </a:xfrm>
          <a:prstGeom prst="rect">
            <a:avLst/>
          </a:prstGeom>
          <a:noFill/>
          <a:ln/>
        </p:spPr>
        <p:txBody>
          <a:bodyPr wrap="square" lIns="0" tIns="0" rIns="0" bIns="0" rtlCol="0" anchor="ctr"/>
          <a:lstStyle/>
          <a:p>
            <a:pPr indent="0" marL="0">
              <a:buNone/>
            </a:pPr>
            <a:r>
              <a:rPr lang="en-US" sz="1400" dirty="0">
                <a:solidFill>
                  <a:srgbClr val="C9D8CE"/>
                </a:solidFill>
                <a:latin typeface="Arial" pitchFamily="34" charset="0"/>
                <a:ea typeface="Arial" pitchFamily="34" charset="-122"/>
                <a:cs typeface="Arial" pitchFamily="34" charset="-120"/>
              </a:rPr>
              <a:t>Built for small farmers on ordinary phones. Speaks their language. Warns before the crop is lost.</a:t>
            </a:r>
            <a:endParaRPr lang="en-US" sz="1400" dirty="0"/>
          </a:p>
          <a:p>
            <a:pPr indent="0" marL="0">
              <a:buNone/>
            </a:pPr>
            <a:r>
              <a:rPr lang="en-US" sz="1400" dirty="0">
                <a:solidFill>
                  <a:srgbClr val="C9D8CE"/>
                </a:solidFill>
                <a:latin typeface="Arial" pitchFamily="34" charset="0"/>
                <a:ea typeface="Arial" pitchFamily="34" charset="-122"/>
                <a:cs typeface="Arial" pitchFamily="34" charset="-120"/>
              </a:rPr>
              <a:t>Extends government systems—does not replace them. Pilot path starts in Narasaraopet.</a:t>
            </a:r>
            <a:endParaRPr lang="en-US" sz="1400" dirty="0"/>
          </a:p>
        </p:txBody>
      </p:sp>
      <p:sp>
        <p:nvSpPr>
          <p:cNvPr id="8" name="Shape 6"/>
          <p:cNvSpPr/>
          <p:nvPr/>
        </p:nvSpPr>
        <p:spPr>
          <a:xfrm>
            <a:off x="594360" y="2926080"/>
            <a:ext cx="2697480" cy="1417320"/>
          </a:xfrm>
          <a:prstGeom prst="roundRect">
            <a:avLst>
              <a:gd name="adj" fmla="val 5161"/>
            </a:avLst>
          </a:prstGeom>
          <a:solidFill>
            <a:srgbClr val="1A4D3A"/>
          </a:solidFill>
          <a:ln w="12700">
            <a:solidFill>
              <a:srgbClr val="1A4D3A"/>
            </a:solidFill>
            <a:prstDash val="solid"/>
          </a:ln>
        </p:spPr>
      </p:sp>
      <p:sp>
        <p:nvSpPr>
          <p:cNvPr id="9" name="Text 7"/>
          <p:cNvSpPr/>
          <p:nvPr/>
        </p:nvSpPr>
        <p:spPr>
          <a:xfrm>
            <a:off x="758952" y="3063240"/>
            <a:ext cx="548640" cy="256032"/>
          </a:xfrm>
          <a:prstGeom prst="rect">
            <a:avLst/>
          </a:prstGeom>
          <a:noFill/>
          <a:ln/>
        </p:spPr>
        <p:txBody>
          <a:bodyPr wrap="square" lIns="0" tIns="0" rIns="0" bIns="0" rtlCol="0" anchor="ctr"/>
          <a:lstStyle/>
          <a:p>
            <a:pPr indent="0" marL="0">
              <a:buNone/>
            </a:pPr>
            <a:r>
              <a:rPr lang="en-US" sz="1600" b="1" dirty="0">
                <a:solidFill>
                  <a:srgbClr val="E9A91B"/>
                </a:solidFill>
                <a:latin typeface="Georgia" pitchFamily="34" charset="0"/>
                <a:ea typeface="Georgia" pitchFamily="34" charset="-122"/>
                <a:cs typeface="Georgia" pitchFamily="34" charset="-120"/>
              </a:rPr>
              <a:t>01</a:t>
            </a:r>
            <a:endParaRPr lang="en-US" sz="1600" dirty="0"/>
          </a:p>
        </p:txBody>
      </p:sp>
      <p:sp>
        <p:nvSpPr>
          <p:cNvPr id="10" name="Text 8"/>
          <p:cNvSpPr/>
          <p:nvPr/>
        </p:nvSpPr>
        <p:spPr>
          <a:xfrm>
            <a:off x="758952" y="3383280"/>
            <a:ext cx="233172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Call or text</a:t>
            </a:r>
            <a:endParaRPr lang="en-US" sz="1600" dirty="0"/>
          </a:p>
        </p:txBody>
      </p:sp>
      <p:sp>
        <p:nvSpPr>
          <p:cNvPr id="11" name="Text 9"/>
          <p:cNvSpPr/>
          <p:nvPr/>
        </p:nvSpPr>
        <p:spPr>
          <a:xfrm>
            <a:off x="758952" y="3749040"/>
            <a:ext cx="2331720" cy="457200"/>
          </a:xfrm>
          <a:prstGeom prst="rect">
            <a:avLst/>
          </a:prstGeom>
          <a:noFill/>
          <a:ln/>
        </p:spPr>
        <p:txBody>
          <a:bodyPr wrap="square" lIns="0" tIns="0" rIns="0" bIns="0" rtlCol="0" anchor="ctr"/>
          <a:lstStyle/>
          <a:p>
            <a:pPr indent="0" marL="0">
              <a:buNone/>
            </a:pPr>
            <a:r>
              <a:rPr lang="en-US" sz="1200" dirty="0">
                <a:solidFill>
                  <a:srgbClr val="C9D8CE"/>
                </a:solidFill>
                <a:latin typeface="Arial" pitchFamily="34" charset="0"/>
                <a:ea typeface="Arial" pitchFamily="34" charset="-122"/>
                <a:cs typeface="Arial" pitchFamily="34" charset="-120"/>
              </a:rPr>
              <a:t>Dial or SMS shorthand.</a:t>
            </a:r>
            <a:endParaRPr lang="en-US" sz="1200" dirty="0"/>
          </a:p>
          <a:p>
            <a:pPr indent="0" marL="0">
              <a:buNone/>
            </a:pPr>
            <a:r>
              <a:rPr lang="en-US" sz="1200" dirty="0">
                <a:solidFill>
                  <a:srgbClr val="C9D8CE"/>
                </a:solidFill>
                <a:latin typeface="Arial" pitchFamily="34" charset="0"/>
                <a:ea typeface="Arial" pitchFamily="34" charset="-122"/>
                <a:cs typeface="Arial" pitchFamily="34" charset="-120"/>
              </a:rPr>
              <a:t>Clear reply, same day.</a:t>
            </a:r>
            <a:endParaRPr lang="en-US" sz="1200" dirty="0"/>
          </a:p>
        </p:txBody>
      </p:sp>
      <p:sp>
        <p:nvSpPr>
          <p:cNvPr id="12" name="Shape 10"/>
          <p:cNvSpPr/>
          <p:nvPr/>
        </p:nvSpPr>
        <p:spPr>
          <a:xfrm>
            <a:off x="3429000" y="2926080"/>
            <a:ext cx="2697480" cy="1417320"/>
          </a:xfrm>
          <a:prstGeom prst="roundRect">
            <a:avLst>
              <a:gd name="adj" fmla="val 5161"/>
            </a:avLst>
          </a:prstGeom>
          <a:solidFill>
            <a:srgbClr val="1A4D3A"/>
          </a:solidFill>
          <a:ln w="12700">
            <a:solidFill>
              <a:srgbClr val="1A4D3A"/>
            </a:solidFill>
            <a:prstDash val="solid"/>
          </a:ln>
        </p:spPr>
      </p:sp>
      <p:sp>
        <p:nvSpPr>
          <p:cNvPr id="13" name="Text 11"/>
          <p:cNvSpPr/>
          <p:nvPr/>
        </p:nvSpPr>
        <p:spPr>
          <a:xfrm>
            <a:off x="3593592" y="3063240"/>
            <a:ext cx="548640" cy="256032"/>
          </a:xfrm>
          <a:prstGeom prst="rect">
            <a:avLst/>
          </a:prstGeom>
          <a:noFill/>
          <a:ln/>
        </p:spPr>
        <p:txBody>
          <a:bodyPr wrap="square" lIns="0" tIns="0" rIns="0" bIns="0" rtlCol="0" anchor="ctr"/>
          <a:lstStyle/>
          <a:p>
            <a:pPr indent="0" marL="0">
              <a:buNone/>
            </a:pPr>
            <a:r>
              <a:rPr lang="en-US" sz="1600" b="1" dirty="0">
                <a:solidFill>
                  <a:srgbClr val="E9A91B"/>
                </a:solidFill>
                <a:latin typeface="Georgia" pitchFamily="34" charset="0"/>
                <a:ea typeface="Georgia" pitchFamily="34" charset="-122"/>
                <a:cs typeface="Georgia" pitchFamily="34" charset="-120"/>
              </a:rPr>
              <a:t>02</a:t>
            </a:r>
            <a:endParaRPr lang="en-US" sz="1600" dirty="0"/>
          </a:p>
        </p:txBody>
      </p:sp>
      <p:sp>
        <p:nvSpPr>
          <p:cNvPr id="14" name="Text 12"/>
          <p:cNvSpPr/>
          <p:nvPr/>
        </p:nvSpPr>
        <p:spPr>
          <a:xfrm>
            <a:off x="3593592" y="3383280"/>
            <a:ext cx="233172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Own language</a:t>
            </a:r>
            <a:endParaRPr lang="en-US" sz="1600" dirty="0"/>
          </a:p>
        </p:txBody>
      </p:sp>
      <p:sp>
        <p:nvSpPr>
          <p:cNvPr id="15" name="Text 13"/>
          <p:cNvSpPr/>
          <p:nvPr/>
        </p:nvSpPr>
        <p:spPr>
          <a:xfrm>
            <a:off x="3593592" y="3749040"/>
            <a:ext cx="2331720" cy="457200"/>
          </a:xfrm>
          <a:prstGeom prst="rect">
            <a:avLst/>
          </a:prstGeom>
          <a:noFill/>
          <a:ln/>
        </p:spPr>
        <p:txBody>
          <a:bodyPr wrap="square" lIns="0" tIns="0" rIns="0" bIns="0" rtlCol="0" anchor="ctr"/>
          <a:lstStyle/>
          <a:p>
            <a:pPr indent="0" marL="0">
              <a:buNone/>
            </a:pPr>
            <a:r>
              <a:rPr lang="en-US" sz="1200" dirty="0">
                <a:solidFill>
                  <a:srgbClr val="C9D8CE"/>
                </a:solidFill>
                <a:latin typeface="Arial" pitchFamily="34" charset="0"/>
                <a:ea typeface="Arial" pitchFamily="34" charset="-122"/>
                <a:cs typeface="Arial" pitchFamily="34" charset="-120"/>
              </a:rPr>
              <a:t>12 languages. Detected</a:t>
            </a:r>
            <a:endParaRPr lang="en-US" sz="1200" dirty="0"/>
          </a:p>
          <a:p>
            <a:pPr indent="0" marL="0">
              <a:buNone/>
            </a:pPr>
            <a:r>
              <a:rPr lang="en-US" sz="1200" dirty="0">
                <a:solidFill>
                  <a:srgbClr val="C9D8CE"/>
                </a:solidFill>
                <a:latin typeface="Arial" pitchFamily="34" charset="0"/>
                <a:ea typeface="Arial" pitchFamily="34" charset="-122"/>
                <a:cs typeface="Arial" pitchFamily="34" charset="-120"/>
              </a:rPr>
              <a:t>from speech—no menus.</a:t>
            </a:r>
            <a:endParaRPr lang="en-US" sz="1200" dirty="0"/>
          </a:p>
        </p:txBody>
      </p:sp>
      <p:sp>
        <p:nvSpPr>
          <p:cNvPr id="16" name="Shape 14"/>
          <p:cNvSpPr/>
          <p:nvPr/>
        </p:nvSpPr>
        <p:spPr>
          <a:xfrm>
            <a:off x="6263640" y="2926080"/>
            <a:ext cx="2697480" cy="1417320"/>
          </a:xfrm>
          <a:prstGeom prst="roundRect">
            <a:avLst>
              <a:gd name="adj" fmla="val 5161"/>
            </a:avLst>
          </a:prstGeom>
          <a:solidFill>
            <a:srgbClr val="1A4D3A"/>
          </a:solidFill>
          <a:ln w="12700">
            <a:solidFill>
              <a:srgbClr val="1A4D3A"/>
            </a:solidFill>
            <a:prstDash val="solid"/>
          </a:ln>
        </p:spPr>
      </p:sp>
      <p:sp>
        <p:nvSpPr>
          <p:cNvPr id="17" name="Text 15"/>
          <p:cNvSpPr/>
          <p:nvPr/>
        </p:nvSpPr>
        <p:spPr>
          <a:xfrm>
            <a:off x="6428232" y="3063240"/>
            <a:ext cx="548640" cy="256032"/>
          </a:xfrm>
          <a:prstGeom prst="rect">
            <a:avLst/>
          </a:prstGeom>
          <a:noFill/>
          <a:ln/>
        </p:spPr>
        <p:txBody>
          <a:bodyPr wrap="square" lIns="0" tIns="0" rIns="0" bIns="0" rtlCol="0" anchor="ctr"/>
          <a:lstStyle/>
          <a:p>
            <a:pPr indent="0" marL="0">
              <a:buNone/>
            </a:pPr>
            <a:r>
              <a:rPr lang="en-US" sz="1600" b="1" dirty="0">
                <a:solidFill>
                  <a:srgbClr val="E9A91B"/>
                </a:solidFill>
                <a:latin typeface="Georgia" pitchFamily="34" charset="0"/>
                <a:ea typeface="Georgia" pitchFamily="34" charset="-122"/>
                <a:cs typeface="Georgia" pitchFamily="34" charset="-120"/>
              </a:rPr>
              <a:t>03</a:t>
            </a:r>
            <a:endParaRPr lang="en-US" sz="1600" dirty="0"/>
          </a:p>
        </p:txBody>
      </p:sp>
      <p:sp>
        <p:nvSpPr>
          <p:cNvPr id="18" name="Text 16"/>
          <p:cNvSpPr/>
          <p:nvPr/>
        </p:nvSpPr>
        <p:spPr>
          <a:xfrm>
            <a:off x="6428232" y="3383280"/>
            <a:ext cx="233172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Crop photo</a:t>
            </a:r>
            <a:endParaRPr lang="en-US" sz="1600" dirty="0"/>
          </a:p>
        </p:txBody>
      </p:sp>
      <p:sp>
        <p:nvSpPr>
          <p:cNvPr id="19" name="Text 17"/>
          <p:cNvSpPr/>
          <p:nvPr/>
        </p:nvSpPr>
        <p:spPr>
          <a:xfrm>
            <a:off x="6428232" y="3749040"/>
            <a:ext cx="2331720" cy="457200"/>
          </a:xfrm>
          <a:prstGeom prst="rect">
            <a:avLst/>
          </a:prstGeom>
          <a:noFill/>
          <a:ln/>
        </p:spPr>
        <p:txBody>
          <a:bodyPr wrap="square" lIns="0" tIns="0" rIns="0" bIns="0" rtlCol="0" anchor="ctr"/>
          <a:lstStyle/>
          <a:p>
            <a:pPr indent="0" marL="0">
              <a:buNone/>
            </a:pPr>
            <a:r>
              <a:rPr lang="en-US" sz="1200" dirty="0">
                <a:solidFill>
                  <a:srgbClr val="C9D8CE"/>
                </a:solidFill>
                <a:latin typeface="Arial" pitchFamily="34" charset="0"/>
                <a:ea typeface="Arial" pitchFamily="34" charset="-122"/>
                <a:cs typeface="Arial" pitchFamily="34" charset="-120"/>
              </a:rPr>
              <a:t>One phone in the village.</a:t>
            </a:r>
            <a:endParaRPr lang="en-US" sz="1200" dirty="0"/>
          </a:p>
          <a:p>
            <a:pPr indent="0" marL="0">
              <a:buNone/>
            </a:pPr>
            <a:r>
              <a:rPr lang="en-US" sz="1200" dirty="0">
                <a:solidFill>
                  <a:srgbClr val="C9D8CE"/>
                </a:solidFill>
                <a:latin typeface="Arial" pitchFamily="34" charset="0"/>
                <a:ea typeface="Arial" pitchFamily="34" charset="-122"/>
                <a:cs typeface="Arial" pitchFamily="34" charset="-120"/>
              </a:rPr>
              <a:t>Voice-note treatment back.</a:t>
            </a:r>
            <a:endParaRPr lang="en-US" sz="1200" dirty="0"/>
          </a:p>
        </p:txBody>
      </p:sp>
      <p:sp>
        <p:nvSpPr>
          <p:cNvPr id="20" name="Shape 18"/>
          <p:cNvSpPr/>
          <p:nvPr/>
        </p:nvSpPr>
        <p:spPr>
          <a:xfrm>
            <a:off x="9098280" y="2926080"/>
            <a:ext cx="2697480" cy="1417320"/>
          </a:xfrm>
          <a:prstGeom prst="roundRect">
            <a:avLst>
              <a:gd name="adj" fmla="val 5161"/>
            </a:avLst>
          </a:prstGeom>
          <a:solidFill>
            <a:srgbClr val="1A4D3A"/>
          </a:solidFill>
          <a:ln w="12700">
            <a:solidFill>
              <a:srgbClr val="1A4D3A"/>
            </a:solidFill>
            <a:prstDash val="solid"/>
          </a:ln>
        </p:spPr>
      </p:sp>
      <p:sp>
        <p:nvSpPr>
          <p:cNvPr id="21" name="Text 19"/>
          <p:cNvSpPr/>
          <p:nvPr/>
        </p:nvSpPr>
        <p:spPr>
          <a:xfrm>
            <a:off x="9262872" y="3063240"/>
            <a:ext cx="548640" cy="256032"/>
          </a:xfrm>
          <a:prstGeom prst="rect">
            <a:avLst/>
          </a:prstGeom>
          <a:noFill/>
          <a:ln/>
        </p:spPr>
        <p:txBody>
          <a:bodyPr wrap="square" lIns="0" tIns="0" rIns="0" bIns="0" rtlCol="0" anchor="ctr"/>
          <a:lstStyle/>
          <a:p>
            <a:pPr indent="0" marL="0">
              <a:buNone/>
            </a:pPr>
            <a:r>
              <a:rPr lang="en-US" sz="1600" b="1" dirty="0">
                <a:solidFill>
                  <a:srgbClr val="E9A91B"/>
                </a:solidFill>
                <a:latin typeface="Georgia" pitchFamily="34" charset="0"/>
                <a:ea typeface="Georgia" pitchFamily="34" charset="-122"/>
                <a:cs typeface="Georgia" pitchFamily="34" charset="-120"/>
              </a:rPr>
              <a:t>04</a:t>
            </a:r>
            <a:endParaRPr lang="en-US" sz="1600" dirty="0"/>
          </a:p>
        </p:txBody>
      </p:sp>
      <p:sp>
        <p:nvSpPr>
          <p:cNvPr id="22" name="Text 20"/>
          <p:cNvSpPr/>
          <p:nvPr/>
        </p:nvSpPr>
        <p:spPr>
          <a:xfrm>
            <a:off x="9262872" y="3383280"/>
            <a:ext cx="2331720" cy="29260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Early warning</a:t>
            </a:r>
            <a:endParaRPr lang="en-US" sz="1600" dirty="0"/>
          </a:p>
        </p:txBody>
      </p:sp>
      <p:sp>
        <p:nvSpPr>
          <p:cNvPr id="23" name="Text 21"/>
          <p:cNvSpPr/>
          <p:nvPr/>
        </p:nvSpPr>
        <p:spPr>
          <a:xfrm>
            <a:off x="9262872" y="3749040"/>
            <a:ext cx="2331720" cy="457200"/>
          </a:xfrm>
          <a:prstGeom prst="rect">
            <a:avLst/>
          </a:prstGeom>
          <a:noFill/>
          <a:ln/>
        </p:spPr>
        <p:txBody>
          <a:bodyPr wrap="square" lIns="0" tIns="0" rIns="0" bIns="0" rtlCol="0" anchor="ctr"/>
          <a:lstStyle/>
          <a:p>
            <a:pPr indent="0" marL="0">
              <a:buNone/>
            </a:pPr>
            <a:r>
              <a:rPr lang="en-US" sz="1200" dirty="0">
                <a:solidFill>
                  <a:srgbClr val="C9D8CE"/>
                </a:solidFill>
                <a:latin typeface="Arial" pitchFamily="34" charset="0"/>
                <a:ea typeface="Arial" pitchFamily="34" charset="-122"/>
                <a:cs typeface="Arial" pitchFamily="34" charset="-120"/>
              </a:rPr>
              <a:t>Dry spell / heavy rain—</a:t>
            </a:r>
            <a:endParaRPr lang="en-US" sz="1200" dirty="0"/>
          </a:p>
          <a:p>
            <a:pPr indent="0" marL="0">
              <a:buNone/>
            </a:pPr>
            <a:r>
              <a:rPr lang="en-US" sz="1200" dirty="0">
                <a:solidFill>
                  <a:srgbClr val="C9D8CE"/>
                </a:solidFill>
                <a:latin typeface="Arial" pitchFamily="34" charset="0"/>
                <a:ea typeface="Arial" pitchFamily="34" charset="-122"/>
                <a:cs typeface="Arial" pitchFamily="34" charset="-120"/>
              </a:rPr>
              <a:t>alert only that block.</a:t>
            </a:r>
            <a:endParaRPr lang="en-US" sz="1200" dirty="0"/>
          </a:p>
        </p:txBody>
      </p:sp>
      <p:sp>
        <p:nvSpPr>
          <p:cNvPr id="24" name="Shape 22"/>
          <p:cNvSpPr/>
          <p:nvPr/>
        </p:nvSpPr>
        <p:spPr>
          <a:xfrm>
            <a:off x="594360" y="4526280"/>
            <a:ext cx="6583680" cy="384048"/>
          </a:xfrm>
          <a:prstGeom prst="roundRect">
            <a:avLst>
              <a:gd name="adj" fmla="val 14286"/>
            </a:avLst>
          </a:prstGeom>
          <a:solidFill>
            <a:srgbClr val="1A4D3A"/>
          </a:solidFill>
          <a:ln w="12700">
            <a:solidFill>
              <a:srgbClr val="1A4D3A"/>
            </a:solidFill>
            <a:prstDash val="solid"/>
          </a:ln>
        </p:spPr>
      </p:sp>
      <p:sp>
        <p:nvSpPr>
          <p:cNvPr id="25" name="Text 23"/>
          <p:cNvSpPr/>
          <p:nvPr/>
        </p:nvSpPr>
        <p:spPr>
          <a:xfrm>
            <a:off x="777240" y="4590288"/>
            <a:ext cx="6309360" cy="256032"/>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LIVE  ·  kisan-vaani.vercel.app  ·  Call / SMS  +1 254 272 6372  ·  open source</a:t>
            </a:r>
            <a:endParaRPr lang="en-US" sz="1200" dirty="0"/>
          </a:p>
        </p:txBody>
      </p:sp>
      <p:sp>
        <p:nvSpPr>
          <p:cNvPr id="26" name="Shape 24"/>
          <p:cNvSpPr/>
          <p:nvPr/>
        </p:nvSpPr>
        <p:spPr>
          <a:xfrm>
            <a:off x="0" y="5074920"/>
            <a:ext cx="12191695" cy="1783080"/>
          </a:xfrm>
          <a:prstGeom prst="rect">
            <a:avLst/>
          </a:prstGeom>
          <a:solidFill>
            <a:srgbClr val="08241B"/>
          </a:solidFill>
          <a:ln w="12700">
            <a:solidFill>
              <a:srgbClr val="08241B"/>
            </a:solidFill>
            <a:prstDash val="solid"/>
          </a:ln>
        </p:spPr>
      </p:sp>
      <p:sp>
        <p:nvSpPr>
          <p:cNvPr id="27" name="Text 25"/>
          <p:cNvSpPr/>
          <p:nvPr/>
        </p:nvSpPr>
        <p:spPr>
          <a:xfrm>
            <a:off x="594360" y="5285232"/>
            <a:ext cx="2651760" cy="384048"/>
          </a:xfrm>
          <a:prstGeom prst="rect">
            <a:avLst/>
          </a:prstGeom>
          <a:noFill/>
          <a:ln/>
        </p:spPr>
        <p:txBody>
          <a:bodyPr wrap="square" lIns="0" tIns="0" rIns="0" bIns="0" rtlCol="0" anchor="ctr"/>
          <a:lstStyle/>
          <a:p>
            <a:pPr indent="0" marL="0">
              <a:buNone/>
            </a:pPr>
            <a:r>
              <a:rPr lang="en-US" sz="2000" b="1" dirty="0">
                <a:solidFill>
                  <a:srgbClr val="E9A91B"/>
                </a:solidFill>
                <a:latin typeface="Georgia" pitchFamily="34" charset="0"/>
                <a:ea typeface="Georgia" pitchFamily="34" charset="-122"/>
                <a:cs typeface="Georgia" pitchFamily="34" charset="-120"/>
              </a:rPr>
              <a:t>14.6 cr</a:t>
            </a:r>
            <a:endParaRPr lang="en-US" sz="2000" dirty="0"/>
          </a:p>
        </p:txBody>
      </p:sp>
      <p:sp>
        <p:nvSpPr>
          <p:cNvPr id="28" name="Text 26"/>
          <p:cNvSpPr/>
          <p:nvPr/>
        </p:nvSpPr>
        <p:spPr>
          <a:xfrm>
            <a:off x="594360" y="5715000"/>
            <a:ext cx="2651760" cy="256032"/>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operational holdings</a:t>
            </a:r>
            <a:endParaRPr lang="en-US" sz="1200" dirty="0"/>
          </a:p>
        </p:txBody>
      </p:sp>
      <p:sp>
        <p:nvSpPr>
          <p:cNvPr id="29" name="Text 27"/>
          <p:cNvSpPr/>
          <p:nvPr/>
        </p:nvSpPr>
        <p:spPr>
          <a:xfrm>
            <a:off x="594360" y="5989320"/>
            <a:ext cx="2651760" cy="256032"/>
          </a:xfrm>
          <a:prstGeom prst="rect">
            <a:avLst/>
          </a:prstGeom>
          <a:noFill/>
          <a:ln/>
        </p:spPr>
        <p:txBody>
          <a:bodyPr wrap="square" lIns="0" tIns="0" rIns="0" bIns="0" rtlCol="0" anchor="ctr"/>
          <a:lstStyle/>
          <a:p>
            <a:pPr indent="0" marL="0">
              <a:buNone/>
            </a:pPr>
            <a:r>
              <a:rPr lang="en-US" sz="1000" dirty="0">
                <a:solidFill>
                  <a:srgbClr val="C9D8CE"/>
                </a:solidFill>
                <a:latin typeface="Arial" pitchFamily="34" charset="0"/>
                <a:ea typeface="Arial" pitchFamily="34" charset="-122"/>
                <a:cs typeface="Arial" pitchFamily="34" charset="-120"/>
              </a:rPr>
              <a:t>86% small or marginal</a:t>
            </a:r>
            <a:endParaRPr lang="en-US" sz="1000" dirty="0"/>
          </a:p>
        </p:txBody>
      </p:sp>
      <p:sp>
        <p:nvSpPr>
          <p:cNvPr id="30" name="Shape 28"/>
          <p:cNvSpPr/>
          <p:nvPr/>
        </p:nvSpPr>
        <p:spPr>
          <a:xfrm>
            <a:off x="3364992" y="5257800"/>
            <a:ext cx="9144" cy="1097280"/>
          </a:xfrm>
          <a:prstGeom prst="rect">
            <a:avLst/>
          </a:prstGeom>
          <a:solidFill>
            <a:srgbClr val="1F4A3A"/>
          </a:solidFill>
          <a:ln w="12700">
            <a:solidFill>
              <a:srgbClr val="1F4A3A"/>
            </a:solidFill>
            <a:prstDash val="solid"/>
          </a:ln>
        </p:spPr>
      </p:sp>
      <p:sp>
        <p:nvSpPr>
          <p:cNvPr id="31" name="Text 29"/>
          <p:cNvSpPr/>
          <p:nvPr/>
        </p:nvSpPr>
        <p:spPr>
          <a:xfrm>
            <a:off x="3474720" y="5285232"/>
            <a:ext cx="2651760" cy="384048"/>
          </a:xfrm>
          <a:prstGeom prst="rect">
            <a:avLst/>
          </a:prstGeom>
          <a:noFill/>
          <a:ln/>
        </p:spPr>
        <p:txBody>
          <a:bodyPr wrap="square" lIns="0" tIns="0" rIns="0" bIns="0" rtlCol="0" anchor="ctr"/>
          <a:lstStyle/>
          <a:p>
            <a:pPr indent="0" marL="0">
              <a:buNone/>
            </a:pPr>
            <a:r>
              <a:rPr lang="en-US" sz="2000" b="1" dirty="0">
                <a:solidFill>
                  <a:srgbClr val="E9A91B"/>
                </a:solidFill>
                <a:latin typeface="Georgia" pitchFamily="34" charset="0"/>
                <a:ea typeface="Georgia" pitchFamily="34" charset="-122"/>
                <a:cs typeface="Georgia" pitchFamily="34" charset="-120"/>
              </a:rPr>
              <a:t>48% vs 16%</a:t>
            </a:r>
            <a:endParaRPr lang="en-US" sz="2000" dirty="0"/>
          </a:p>
        </p:txBody>
      </p:sp>
      <p:sp>
        <p:nvSpPr>
          <p:cNvPr id="32" name="Text 30"/>
          <p:cNvSpPr/>
          <p:nvPr/>
        </p:nvSpPr>
        <p:spPr>
          <a:xfrm>
            <a:off x="3474720" y="5715000"/>
            <a:ext cx="2651760" cy="256032"/>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advice source</a:t>
            </a:r>
            <a:endParaRPr lang="en-US" sz="1200" dirty="0"/>
          </a:p>
        </p:txBody>
      </p:sp>
      <p:sp>
        <p:nvSpPr>
          <p:cNvPr id="33" name="Text 31"/>
          <p:cNvSpPr/>
          <p:nvPr/>
        </p:nvSpPr>
        <p:spPr>
          <a:xfrm>
            <a:off x="3474720" y="5989320"/>
            <a:ext cx="2651760" cy="256032"/>
          </a:xfrm>
          <a:prstGeom prst="rect">
            <a:avLst/>
          </a:prstGeom>
          <a:noFill/>
          <a:ln/>
        </p:spPr>
        <p:txBody>
          <a:bodyPr wrap="square" lIns="0" tIns="0" rIns="0" bIns="0" rtlCol="0" anchor="ctr"/>
          <a:lstStyle/>
          <a:p>
            <a:pPr indent="0" marL="0">
              <a:buNone/>
            </a:pPr>
            <a:r>
              <a:rPr lang="en-US" sz="1000" dirty="0">
                <a:solidFill>
                  <a:srgbClr val="C9D8CE"/>
                </a:solidFill>
                <a:latin typeface="Arial" pitchFamily="34" charset="0"/>
                <a:ea typeface="Arial" pitchFamily="34" charset="-122"/>
                <a:cs typeface="Arial" pitchFamily="34" charset="-120"/>
              </a:rPr>
              <a:t>dealers vs officers</a:t>
            </a:r>
            <a:endParaRPr lang="en-US" sz="1000" dirty="0"/>
          </a:p>
        </p:txBody>
      </p:sp>
      <p:sp>
        <p:nvSpPr>
          <p:cNvPr id="34" name="Shape 32"/>
          <p:cNvSpPr/>
          <p:nvPr/>
        </p:nvSpPr>
        <p:spPr>
          <a:xfrm>
            <a:off x="6245352" y="5257800"/>
            <a:ext cx="9144" cy="1097280"/>
          </a:xfrm>
          <a:prstGeom prst="rect">
            <a:avLst/>
          </a:prstGeom>
          <a:solidFill>
            <a:srgbClr val="1F4A3A"/>
          </a:solidFill>
          <a:ln w="12700">
            <a:solidFill>
              <a:srgbClr val="1F4A3A"/>
            </a:solidFill>
            <a:prstDash val="solid"/>
          </a:ln>
        </p:spPr>
      </p:sp>
      <p:sp>
        <p:nvSpPr>
          <p:cNvPr id="35" name="Text 33"/>
          <p:cNvSpPr/>
          <p:nvPr/>
        </p:nvSpPr>
        <p:spPr>
          <a:xfrm>
            <a:off x="6355080" y="5285232"/>
            <a:ext cx="2651760" cy="384048"/>
          </a:xfrm>
          <a:prstGeom prst="rect">
            <a:avLst/>
          </a:prstGeom>
          <a:noFill/>
          <a:ln/>
        </p:spPr>
        <p:txBody>
          <a:bodyPr wrap="square" lIns="0" tIns="0" rIns="0" bIns="0" rtlCol="0" anchor="ctr"/>
          <a:lstStyle/>
          <a:p>
            <a:pPr indent="0" marL="0">
              <a:buNone/>
            </a:pPr>
            <a:r>
              <a:rPr lang="en-US" sz="2000" b="1" dirty="0">
                <a:solidFill>
                  <a:srgbClr val="E9A91B"/>
                </a:solidFill>
                <a:latin typeface="Georgia" pitchFamily="34" charset="0"/>
                <a:ea typeface="Georgia" pitchFamily="34" charset="-122"/>
                <a:cs typeface="Georgia" pitchFamily="34" charset="-120"/>
              </a:rPr>
              <a:t>worse than 1:5,000</a:t>
            </a:r>
            <a:endParaRPr lang="en-US" sz="2000" dirty="0"/>
          </a:p>
        </p:txBody>
      </p:sp>
      <p:sp>
        <p:nvSpPr>
          <p:cNvPr id="36" name="Text 34"/>
          <p:cNvSpPr/>
          <p:nvPr/>
        </p:nvSpPr>
        <p:spPr>
          <a:xfrm>
            <a:off x="6355080" y="5715000"/>
            <a:ext cx="2651760" cy="256032"/>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farmers per officer</a:t>
            </a:r>
            <a:endParaRPr lang="en-US" sz="1200" dirty="0"/>
          </a:p>
        </p:txBody>
      </p:sp>
      <p:sp>
        <p:nvSpPr>
          <p:cNvPr id="37" name="Text 35"/>
          <p:cNvSpPr/>
          <p:nvPr/>
        </p:nvSpPr>
        <p:spPr>
          <a:xfrm>
            <a:off x="6355080" y="5989320"/>
            <a:ext cx="2651760" cy="256032"/>
          </a:xfrm>
          <a:prstGeom prst="rect">
            <a:avLst/>
          </a:prstGeom>
          <a:noFill/>
          <a:ln/>
        </p:spPr>
        <p:txBody>
          <a:bodyPr wrap="square" lIns="0" tIns="0" rIns="0" bIns="0" rtlCol="0" anchor="ctr"/>
          <a:lstStyle/>
          <a:p>
            <a:pPr indent="0" marL="0">
              <a:buNone/>
            </a:pPr>
            <a:r>
              <a:rPr lang="en-US" sz="1000" dirty="0">
                <a:solidFill>
                  <a:srgbClr val="C9D8CE"/>
                </a:solidFill>
                <a:latin typeface="Arial" pitchFamily="34" charset="0"/>
                <a:ea typeface="Arial" pitchFamily="34" charset="-122"/>
                <a:cs typeface="Arial" pitchFamily="34" charset="-120"/>
              </a:rPr>
              <a:t>51% posts vacant</a:t>
            </a:r>
            <a:endParaRPr lang="en-US" sz="1000" dirty="0"/>
          </a:p>
        </p:txBody>
      </p:sp>
      <p:sp>
        <p:nvSpPr>
          <p:cNvPr id="38" name="Shape 36"/>
          <p:cNvSpPr/>
          <p:nvPr/>
        </p:nvSpPr>
        <p:spPr>
          <a:xfrm>
            <a:off x="9125712" y="5257800"/>
            <a:ext cx="9144" cy="1097280"/>
          </a:xfrm>
          <a:prstGeom prst="rect">
            <a:avLst/>
          </a:prstGeom>
          <a:solidFill>
            <a:srgbClr val="1F4A3A"/>
          </a:solidFill>
          <a:ln w="12700">
            <a:solidFill>
              <a:srgbClr val="1F4A3A"/>
            </a:solidFill>
            <a:prstDash val="solid"/>
          </a:ln>
        </p:spPr>
      </p:sp>
      <p:sp>
        <p:nvSpPr>
          <p:cNvPr id="39" name="Text 37"/>
          <p:cNvSpPr/>
          <p:nvPr/>
        </p:nvSpPr>
        <p:spPr>
          <a:xfrm>
            <a:off x="9235440" y="5285232"/>
            <a:ext cx="2651760" cy="384048"/>
          </a:xfrm>
          <a:prstGeom prst="rect">
            <a:avLst/>
          </a:prstGeom>
          <a:noFill/>
          <a:ln/>
        </p:spPr>
        <p:txBody>
          <a:bodyPr wrap="square" lIns="0" tIns="0" rIns="0" bIns="0" rtlCol="0" anchor="ctr"/>
          <a:lstStyle/>
          <a:p>
            <a:pPr indent="0" marL="0">
              <a:buNone/>
            </a:pPr>
            <a:r>
              <a:rPr lang="en-US" sz="2000" b="1" dirty="0">
                <a:solidFill>
                  <a:srgbClr val="E9A91B"/>
                </a:solidFill>
                <a:latin typeface="Georgia" pitchFamily="34" charset="0"/>
                <a:ea typeface="Georgia" pitchFamily="34" charset="-122"/>
                <a:cs typeface="Georgia" pitchFamily="34" charset="-120"/>
              </a:rPr>
              <a:t>₹90,000 cr</a:t>
            </a:r>
            <a:endParaRPr lang="en-US" sz="2000" dirty="0"/>
          </a:p>
        </p:txBody>
      </p:sp>
      <p:sp>
        <p:nvSpPr>
          <p:cNvPr id="40" name="Text 38"/>
          <p:cNvSpPr/>
          <p:nvPr/>
        </p:nvSpPr>
        <p:spPr>
          <a:xfrm>
            <a:off x="9235440" y="5715000"/>
            <a:ext cx="2651760" cy="256032"/>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pest &amp; disease loss / yr</a:t>
            </a:r>
            <a:endParaRPr lang="en-US" sz="1200" dirty="0"/>
          </a:p>
        </p:txBody>
      </p:sp>
      <p:sp>
        <p:nvSpPr>
          <p:cNvPr id="41" name="Text 39"/>
          <p:cNvSpPr/>
          <p:nvPr/>
        </p:nvSpPr>
        <p:spPr>
          <a:xfrm>
            <a:off x="9235440" y="5989320"/>
            <a:ext cx="2651760" cy="256032"/>
          </a:xfrm>
          <a:prstGeom prst="rect">
            <a:avLst/>
          </a:prstGeom>
          <a:noFill/>
          <a:ln/>
        </p:spPr>
        <p:txBody>
          <a:bodyPr wrap="square" lIns="0" tIns="0" rIns="0" bIns="0" rtlCol="0" anchor="ctr"/>
          <a:lstStyle/>
          <a:p>
            <a:pPr indent="0" marL="0">
              <a:buNone/>
            </a:pPr>
            <a:r>
              <a:rPr lang="en-US" sz="1000" dirty="0">
                <a:solidFill>
                  <a:srgbClr val="C9D8CE"/>
                </a:solidFill>
                <a:latin typeface="Arial" pitchFamily="34" charset="0"/>
                <a:ea typeface="Arial" pitchFamily="34" charset="-122"/>
                <a:cs typeface="Arial" pitchFamily="34" charset="-120"/>
              </a:rPr>
              <a:t>ICAR: 20–40% avoidable</a:t>
            </a:r>
            <a:endParaRPr lang="en-US" sz="1000" dirty="0"/>
          </a:p>
        </p:txBody>
      </p:sp>
      <p:sp>
        <p:nvSpPr>
          <p:cNvPr id="42" name="Text 40"/>
          <p:cNvSpPr/>
          <p:nvPr/>
        </p:nvSpPr>
        <p:spPr>
          <a:xfrm>
            <a:off x="594360" y="6565392"/>
            <a:ext cx="10058400" cy="146304"/>
          </a:xfrm>
          <a:prstGeom prst="rect">
            <a:avLst/>
          </a:prstGeom>
          <a:noFill/>
          <a:ln/>
        </p:spPr>
        <p:txBody>
          <a:bodyPr wrap="square" lIns="0" tIns="0" rIns="0" bIns="0" rtlCol="0" anchor="ctr"/>
          <a:lstStyle/>
          <a:p>
            <a:pPr indent="0" marL="0">
              <a:buNone/>
            </a:pPr>
            <a:r>
              <a:rPr lang="en-US" sz="650" dirty="0">
                <a:solidFill>
                  <a:srgbClr val="C6D4C9"/>
                </a:solidFill>
                <a:latin typeface="Arial" pitchFamily="34" charset="0"/>
                <a:ea typeface="Arial" pitchFamily="34" charset="-122"/>
                <a:cs typeface="Arial" pitchFamily="34" charset="-120"/>
              </a:rPr>
              <a:t>Sources: Agriculture Census 2015–16 · NSS-SAS · MANAGE/AESA · ICAR · NFHS-5 · product live links.</a:t>
            </a:r>
            <a:endParaRPr lang="en-US" sz="650" dirty="0"/>
          </a:p>
        </p:txBody>
      </p:sp>
      <p:sp>
        <p:nvSpPr>
          <p:cNvPr id="43" name="Text 41"/>
          <p:cNvSpPr/>
          <p:nvPr/>
        </p:nvSpPr>
        <p:spPr>
          <a:xfrm>
            <a:off x="11064240" y="6565392"/>
            <a:ext cx="640080" cy="164592"/>
          </a:xfrm>
          <a:prstGeom prst="rect">
            <a:avLst/>
          </a:prstGeom>
          <a:noFill/>
          <a:ln/>
        </p:spPr>
        <p:txBody>
          <a:bodyPr wrap="square" lIns="0" tIns="0" rIns="0" bIns="0" rtlCol="0" anchor="ctr"/>
          <a:lstStyle/>
          <a:p>
            <a:pPr algn="r" indent="0" marL="0">
              <a:buNone/>
            </a:pPr>
            <a:r>
              <a:rPr lang="en-US" sz="750" dirty="0">
                <a:solidFill>
                  <a:srgbClr val="C6D4C9"/>
                </a:solidFill>
                <a:latin typeface="Arial" pitchFamily="34" charset="0"/>
                <a:ea typeface="Arial" pitchFamily="34" charset="-122"/>
                <a:cs typeface="Arial" pitchFamily="34" charset="-120"/>
              </a:rPr>
              <a:t>01 / 03</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6"/>
        </a:solidFill>
      </p:bgPr>
    </p:bg>
    <p:spTree>
      <p:nvGrpSpPr>
        <p:cNvPr id="1" name=""/>
        <p:cNvGrpSpPr/>
        <p:nvPr/>
      </p:nvGrpSpPr>
      <p:grpSpPr>
        <a:xfrm>
          <a:off x="0" y="0"/>
          <a:ext cx="0" cy="0"/>
          <a:chOff x="0" y="0"/>
          <a:chExt cx="0" cy="0"/>
        </a:xfrm>
      </p:grpSpPr>
      <p:sp>
        <p:nvSpPr>
          <p:cNvPr id="2" name="Shape 0"/>
          <p:cNvSpPr/>
          <p:nvPr/>
        </p:nvSpPr>
        <p:spPr>
          <a:xfrm>
            <a:off x="594360" y="347472"/>
            <a:ext cx="54864" cy="219456"/>
          </a:xfrm>
          <a:prstGeom prst="rect">
            <a:avLst/>
          </a:prstGeom>
          <a:solidFill>
            <a:srgbClr val="E9A91B"/>
          </a:solidFill>
          <a:ln w="12700">
            <a:solidFill>
              <a:srgbClr val="E9A91B"/>
            </a:solidFill>
            <a:prstDash val="solid"/>
          </a:ln>
        </p:spPr>
      </p:sp>
      <p:sp>
        <p:nvSpPr>
          <p:cNvPr id="3" name="Text 1"/>
          <p:cNvSpPr/>
          <p:nvPr/>
        </p:nvSpPr>
        <p:spPr>
          <a:xfrm>
            <a:off x="749808" y="320040"/>
            <a:ext cx="2011680" cy="274320"/>
          </a:xfrm>
          <a:prstGeom prst="rect">
            <a:avLst/>
          </a:prstGeom>
          <a:noFill/>
          <a:ln/>
        </p:spPr>
        <p:txBody>
          <a:bodyPr wrap="square" lIns="0" tIns="0" rIns="0" bIns="0" rtlCol="0" anchor="ctr"/>
          <a:lstStyle/>
          <a:p>
            <a:pPr indent="0" marL="0">
              <a:buNone/>
            </a:pPr>
            <a:r>
              <a:rPr lang="en-US" sz="1200" b="1" dirty="0">
                <a:solidFill>
                  <a:srgbClr val="103D2C"/>
                </a:solidFill>
                <a:latin typeface="Arial" pitchFamily="34" charset="0"/>
                <a:ea typeface="Arial" pitchFamily="34" charset="-122"/>
                <a:cs typeface="Arial" pitchFamily="34" charset="-120"/>
              </a:rPr>
              <a:t>KISANVAANI</a:t>
            </a:r>
            <a:endParaRPr lang="en-US" sz="1200" dirty="0"/>
          </a:p>
        </p:txBody>
      </p:sp>
      <p:sp>
        <p:nvSpPr>
          <p:cNvPr id="4" name="Text 2"/>
          <p:cNvSpPr/>
          <p:nvPr/>
        </p:nvSpPr>
        <p:spPr>
          <a:xfrm>
            <a:off x="7498080" y="347472"/>
            <a:ext cx="4114800" cy="219456"/>
          </a:xfrm>
          <a:prstGeom prst="rect">
            <a:avLst/>
          </a:prstGeom>
          <a:noFill/>
          <a:ln/>
        </p:spPr>
        <p:txBody>
          <a:bodyPr wrap="square" lIns="0" tIns="0" rIns="0" bIns="0" rtlCol="0" anchor="ctr"/>
          <a:lstStyle/>
          <a:p>
            <a:pPr algn="r" indent="0" marL="0">
              <a:buNone/>
            </a:pPr>
            <a:r>
              <a:rPr lang="en-US" sz="850" dirty="0">
                <a:solidFill>
                  <a:srgbClr val="5D6B63"/>
                </a:solidFill>
                <a:latin typeface="Arial" pitchFamily="34" charset="0"/>
                <a:ea typeface="Arial" pitchFamily="34" charset="-122"/>
                <a:cs typeface="Arial" pitchFamily="34" charset="-120"/>
              </a:rPr>
              <a:t>VISHWAKARMA DEVS  ·  KISAN ALERT WINNER</a:t>
            </a:r>
            <a:endParaRPr lang="en-US" sz="850" dirty="0"/>
          </a:p>
        </p:txBody>
      </p:sp>
      <p:sp>
        <p:nvSpPr>
          <p:cNvPr id="5" name="Text 3"/>
          <p:cNvSpPr/>
          <p:nvPr/>
        </p:nvSpPr>
        <p:spPr>
          <a:xfrm>
            <a:off x="594360" y="777240"/>
            <a:ext cx="7315200" cy="201168"/>
          </a:xfrm>
          <a:prstGeom prst="rect">
            <a:avLst/>
          </a:prstGeom>
          <a:noFill/>
          <a:ln/>
        </p:spPr>
        <p:txBody>
          <a:bodyPr wrap="square" lIns="0" tIns="0" rIns="0" bIns="0" rtlCol="0" anchor="ctr"/>
          <a:lstStyle/>
          <a:p>
            <a:pPr indent="0" marL="0">
              <a:buNone/>
            </a:pPr>
            <a:r>
              <a:rPr lang="en-US" sz="1000" b="1" spc="80" kern="0" dirty="0">
                <a:solidFill>
                  <a:srgbClr val="D24E3F"/>
                </a:solidFill>
                <a:latin typeface="Arial" pitchFamily="34" charset="0"/>
                <a:ea typeface="Arial" pitchFamily="34" charset="-122"/>
                <a:cs typeface="Arial" pitchFamily="34" charset="-120"/>
              </a:rPr>
              <a:t>WHAT WE BUILT  ·  LIVE PROOF</a:t>
            </a:r>
            <a:endParaRPr lang="en-US" sz="1000" dirty="0"/>
          </a:p>
        </p:txBody>
      </p:sp>
      <p:sp>
        <p:nvSpPr>
          <p:cNvPr id="6" name="Text 4"/>
          <p:cNvSpPr/>
          <p:nvPr/>
        </p:nvSpPr>
        <p:spPr>
          <a:xfrm>
            <a:off x="594360" y="960120"/>
            <a:ext cx="10972800" cy="658368"/>
          </a:xfrm>
          <a:prstGeom prst="rect">
            <a:avLst/>
          </a:prstGeom>
          <a:noFill/>
          <a:ln/>
        </p:spPr>
        <p:txBody>
          <a:bodyPr wrap="square" lIns="0" tIns="0" rIns="0" bIns="0" rtlCol="0" anchor="ctr"/>
          <a:lstStyle/>
          <a:p>
            <a:pPr indent="0" marL="0">
              <a:buNone/>
            </a:pPr>
            <a:r>
              <a:rPr lang="en-US" sz="2600" b="1" dirty="0">
                <a:solidFill>
                  <a:srgbClr val="132219"/>
                </a:solidFill>
                <a:latin typeface="Georgia" pitchFamily="34" charset="0"/>
                <a:ea typeface="Georgia" pitchFamily="34" charset="-122"/>
                <a:cs typeface="Georgia" pitchFamily="34" charset="-120"/>
              </a:rPr>
              <a:t>Not a mock-up—a working system</a:t>
            </a:r>
            <a:endParaRPr lang="en-US" sz="2600" dirty="0"/>
          </a:p>
          <a:p>
            <a:pPr indent="0" marL="0">
              <a:buNone/>
            </a:pPr>
            <a:r>
              <a:rPr lang="en-US" sz="2600" b="1" dirty="0">
                <a:solidFill>
                  <a:srgbClr val="132219"/>
                </a:solidFill>
                <a:latin typeface="Georgia" pitchFamily="34" charset="0"/>
                <a:ea typeface="Georgia" pitchFamily="34" charset="-122"/>
                <a:cs typeface="Georgia" pitchFamily="34" charset="-120"/>
              </a:rPr>
              <a:t>you can call and open right now.</a:t>
            </a:r>
            <a:endParaRPr lang="en-US" sz="2600" dirty="0"/>
          </a:p>
        </p:txBody>
      </p:sp>
      <p:sp>
        <p:nvSpPr>
          <p:cNvPr id="7" name="Shape 5"/>
          <p:cNvSpPr/>
          <p:nvPr/>
        </p:nvSpPr>
        <p:spPr>
          <a:xfrm>
            <a:off x="594360" y="1691640"/>
            <a:ext cx="11018520" cy="310896"/>
          </a:xfrm>
          <a:prstGeom prst="roundRect">
            <a:avLst>
              <a:gd name="adj" fmla="val 11765"/>
            </a:avLst>
          </a:prstGeom>
          <a:solidFill>
            <a:srgbClr val="103D2C"/>
          </a:solidFill>
          <a:ln w="12700">
            <a:solidFill>
              <a:srgbClr val="103D2C"/>
            </a:solidFill>
            <a:prstDash val="solid"/>
          </a:ln>
        </p:spPr>
      </p:sp>
      <p:sp>
        <p:nvSpPr>
          <p:cNvPr id="8" name="Text 6"/>
          <p:cNvSpPr/>
          <p:nvPr/>
        </p:nvSpPr>
        <p:spPr>
          <a:xfrm>
            <a:off x="731520" y="1737360"/>
            <a:ext cx="10789920"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LIVE BUILD  ·  12 languages  ·  voice / SMS / WhatsApp / photo  ·  Soil Health Card · mandi · weather  ·  +1 254 272 6372  ·  open source</a:t>
            </a:r>
            <a:endParaRPr lang="en-US" sz="1100" dirty="0"/>
          </a:p>
        </p:txBody>
      </p:sp>
      <p:sp>
        <p:nvSpPr>
          <p:cNvPr id="9" name="Shape 7"/>
          <p:cNvSpPr/>
          <p:nvPr/>
        </p:nvSpPr>
        <p:spPr>
          <a:xfrm>
            <a:off x="594360" y="2148840"/>
            <a:ext cx="2606040" cy="45720"/>
          </a:xfrm>
          <a:prstGeom prst="rect">
            <a:avLst/>
          </a:prstGeom>
          <a:solidFill>
            <a:srgbClr val="D24E3F"/>
          </a:solidFill>
          <a:ln w="12700">
            <a:solidFill>
              <a:srgbClr val="D24E3F"/>
            </a:solidFill>
            <a:prstDash val="solid"/>
          </a:ln>
        </p:spPr>
      </p:sp>
      <p:sp>
        <p:nvSpPr>
          <p:cNvPr id="10" name="Text 8"/>
          <p:cNvSpPr/>
          <p:nvPr/>
        </p:nvSpPr>
        <p:spPr>
          <a:xfrm>
            <a:off x="594360" y="2267712"/>
            <a:ext cx="594360" cy="256032"/>
          </a:xfrm>
          <a:prstGeom prst="rect">
            <a:avLst/>
          </a:prstGeom>
          <a:noFill/>
          <a:ln/>
        </p:spPr>
        <p:txBody>
          <a:bodyPr wrap="square" lIns="0" tIns="0" rIns="0" bIns="0" rtlCol="0" anchor="ctr"/>
          <a:lstStyle/>
          <a:p>
            <a:pPr indent="0" marL="0">
              <a:buNone/>
            </a:pPr>
            <a:r>
              <a:rPr lang="en-US" sz="1700" b="1" dirty="0">
                <a:solidFill>
                  <a:srgbClr val="D24E3F"/>
                </a:solidFill>
                <a:latin typeface="Georgia" pitchFamily="34" charset="0"/>
                <a:ea typeface="Georgia" pitchFamily="34" charset="-122"/>
                <a:cs typeface="Georgia" pitchFamily="34" charset="-120"/>
              </a:rPr>
              <a:t>01</a:t>
            </a:r>
            <a:endParaRPr lang="en-US" sz="1700" dirty="0"/>
          </a:p>
        </p:txBody>
      </p:sp>
      <p:sp>
        <p:nvSpPr>
          <p:cNvPr id="11" name="Text 9"/>
          <p:cNvSpPr/>
          <p:nvPr/>
        </p:nvSpPr>
        <p:spPr>
          <a:xfrm>
            <a:off x="1234440" y="2304288"/>
            <a:ext cx="1828800" cy="182880"/>
          </a:xfrm>
          <a:prstGeom prst="rect">
            <a:avLst/>
          </a:prstGeom>
          <a:noFill/>
          <a:ln/>
        </p:spPr>
        <p:txBody>
          <a:bodyPr wrap="square" lIns="0" tIns="0" rIns="0" bIns="0" rtlCol="0" anchor="ctr"/>
          <a:lstStyle/>
          <a:p>
            <a:pPr indent="0" marL="0">
              <a:buNone/>
            </a:pPr>
            <a:r>
              <a:rPr lang="en-US" sz="1000" b="1" spc="100" kern="0" dirty="0">
                <a:solidFill>
                  <a:srgbClr val="5D6B63"/>
                </a:solidFill>
                <a:latin typeface="Arial" pitchFamily="34" charset="0"/>
                <a:ea typeface="Arial" pitchFamily="34" charset="-122"/>
                <a:cs typeface="Arial" pitchFamily="34" charset="-120"/>
              </a:rPr>
              <a:t>ACCESS</a:t>
            </a:r>
            <a:endParaRPr lang="en-US" sz="1000" dirty="0"/>
          </a:p>
        </p:txBody>
      </p:sp>
      <p:sp>
        <p:nvSpPr>
          <p:cNvPr id="12" name="Text 10"/>
          <p:cNvSpPr/>
          <p:nvPr/>
        </p:nvSpPr>
        <p:spPr>
          <a:xfrm>
            <a:off x="594360" y="2578608"/>
            <a:ext cx="2651760" cy="457200"/>
          </a:xfrm>
          <a:prstGeom prst="rect">
            <a:avLst/>
          </a:prstGeom>
          <a:noFill/>
          <a:ln/>
        </p:spPr>
        <p:txBody>
          <a:bodyPr wrap="square" lIns="0" tIns="0" rIns="0" bIns="0" rtlCol="0" anchor="ctr"/>
          <a:lstStyle/>
          <a:p>
            <a:pPr indent="0" marL="0">
              <a:buNone/>
            </a:pPr>
            <a:r>
              <a:rPr lang="en-US" sz="1500" b="1" dirty="0">
                <a:solidFill>
                  <a:srgbClr val="132219"/>
                </a:solidFill>
                <a:latin typeface="Georgia" pitchFamily="34" charset="0"/>
                <a:ea typeface="Georgia" pitchFamily="34" charset="-122"/>
                <a:cs typeface="Georgia" pitchFamily="34" charset="-120"/>
              </a:rPr>
              <a:t>Any phone.</a:t>
            </a:r>
            <a:endParaRPr lang="en-US" sz="1500" dirty="0"/>
          </a:p>
          <a:p>
            <a:pPr indent="0" marL="0">
              <a:buNone/>
            </a:pPr>
            <a:r>
              <a:rPr lang="en-US" sz="1500" b="1" dirty="0">
                <a:solidFill>
                  <a:srgbClr val="132219"/>
                </a:solidFill>
                <a:latin typeface="Georgia" pitchFamily="34" charset="0"/>
                <a:ea typeface="Georgia" pitchFamily="34" charset="-122"/>
                <a:cs typeface="Georgia" pitchFamily="34" charset="-120"/>
              </a:rPr>
              <a:t>Own language.</a:t>
            </a:r>
            <a:endParaRPr lang="en-US" sz="1500" dirty="0"/>
          </a:p>
        </p:txBody>
      </p:sp>
      <p:sp>
        <p:nvSpPr>
          <p:cNvPr id="13" name="Text 11"/>
          <p:cNvSpPr/>
          <p:nvPr/>
        </p:nvSpPr>
        <p:spPr>
          <a:xfrm>
            <a:off x="594360" y="3090672"/>
            <a:ext cx="2651760" cy="457200"/>
          </a:xfrm>
          <a:prstGeom prst="rect">
            <a:avLst/>
          </a:prstGeom>
          <a:noFill/>
          <a:ln/>
        </p:spPr>
        <p:txBody>
          <a:bodyPr wrap="square" lIns="0" tIns="0" rIns="0" bIns="0" rtlCol="0" anchor="ctr"/>
          <a:lstStyle/>
          <a:p>
            <a:pPr indent="0" marL="0">
              <a:buNone/>
            </a:pPr>
            <a:r>
              <a:rPr lang="en-US" sz="1200" dirty="0">
                <a:solidFill>
                  <a:srgbClr val="5D6B63"/>
                </a:solidFill>
                <a:latin typeface="Arial" pitchFamily="34" charset="0"/>
                <a:ea typeface="Arial" pitchFamily="34" charset="-122"/>
                <a:cs typeface="Arial" pitchFamily="34" charset="-120"/>
              </a:rPr>
              <a:t>Voice · SMS · WhatsApp · photo. No app or reading. Language from speech.</a:t>
            </a:r>
            <a:endParaRPr lang="en-US" sz="1200" dirty="0"/>
          </a:p>
        </p:txBody>
      </p:sp>
      <p:sp>
        <p:nvSpPr>
          <p:cNvPr id="14" name="Shape 12"/>
          <p:cNvSpPr/>
          <p:nvPr/>
        </p:nvSpPr>
        <p:spPr>
          <a:xfrm>
            <a:off x="3474720" y="2148840"/>
            <a:ext cx="2606040" cy="45720"/>
          </a:xfrm>
          <a:prstGeom prst="rect">
            <a:avLst/>
          </a:prstGeom>
          <a:solidFill>
            <a:srgbClr val="103D2C"/>
          </a:solidFill>
          <a:ln w="12700">
            <a:solidFill>
              <a:srgbClr val="103D2C"/>
            </a:solidFill>
            <a:prstDash val="solid"/>
          </a:ln>
        </p:spPr>
      </p:sp>
      <p:sp>
        <p:nvSpPr>
          <p:cNvPr id="15" name="Text 13"/>
          <p:cNvSpPr/>
          <p:nvPr/>
        </p:nvSpPr>
        <p:spPr>
          <a:xfrm>
            <a:off x="3474720" y="2267712"/>
            <a:ext cx="594360" cy="256032"/>
          </a:xfrm>
          <a:prstGeom prst="rect">
            <a:avLst/>
          </a:prstGeom>
          <a:noFill/>
          <a:ln/>
        </p:spPr>
        <p:txBody>
          <a:bodyPr wrap="square" lIns="0" tIns="0" rIns="0" bIns="0" rtlCol="0" anchor="ctr"/>
          <a:lstStyle/>
          <a:p>
            <a:pPr indent="0" marL="0">
              <a:buNone/>
            </a:pPr>
            <a:r>
              <a:rPr lang="en-US" sz="1700" b="1" dirty="0">
                <a:solidFill>
                  <a:srgbClr val="103D2C"/>
                </a:solidFill>
                <a:latin typeface="Georgia" pitchFamily="34" charset="0"/>
                <a:ea typeface="Georgia" pitchFamily="34" charset="-122"/>
                <a:cs typeface="Georgia" pitchFamily="34" charset="-120"/>
              </a:rPr>
              <a:t>02</a:t>
            </a:r>
            <a:endParaRPr lang="en-US" sz="1700" dirty="0"/>
          </a:p>
        </p:txBody>
      </p:sp>
      <p:sp>
        <p:nvSpPr>
          <p:cNvPr id="16" name="Text 14"/>
          <p:cNvSpPr/>
          <p:nvPr/>
        </p:nvSpPr>
        <p:spPr>
          <a:xfrm>
            <a:off x="4114800" y="2304288"/>
            <a:ext cx="1828800" cy="182880"/>
          </a:xfrm>
          <a:prstGeom prst="rect">
            <a:avLst/>
          </a:prstGeom>
          <a:noFill/>
          <a:ln/>
        </p:spPr>
        <p:txBody>
          <a:bodyPr wrap="square" lIns="0" tIns="0" rIns="0" bIns="0" rtlCol="0" anchor="ctr"/>
          <a:lstStyle/>
          <a:p>
            <a:pPr indent="0" marL="0">
              <a:buNone/>
            </a:pPr>
            <a:r>
              <a:rPr lang="en-US" sz="1000" b="1" spc="100" kern="0" dirty="0">
                <a:solidFill>
                  <a:srgbClr val="5D6B63"/>
                </a:solidFill>
                <a:latin typeface="Arial" pitchFamily="34" charset="0"/>
                <a:ea typeface="Arial" pitchFamily="34" charset="-122"/>
                <a:cs typeface="Arial" pitchFamily="34" charset="-120"/>
              </a:rPr>
              <a:t>GROUND</a:t>
            </a:r>
            <a:endParaRPr lang="en-US" sz="1000" dirty="0"/>
          </a:p>
        </p:txBody>
      </p:sp>
      <p:sp>
        <p:nvSpPr>
          <p:cNvPr id="17" name="Text 15"/>
          <p:cNvSpPr/>
          <p:nvPr/>
        </p:nvSpPr>
        <p:spPr>
          <a:xfrm>
            <a:off x="3474720" y="2578608"/>
            <a:ext cx="2651760" cy="457200"/>
          </a:xfrm>
          <a:prstGeom prst="rect">
            <a:avLst/>
          </a:prstGeom>
          <a:noFill/>
          <a:ln/>
        </p:spPr>
        <p:txBody>
          <a:bodyPr wrap="square" lIns="0" tIns="0" rIns="0" bIns="0" rtlCol="0" anchor="ctr"/>
          <a:lstStyle/>
          <a:p>
            <a:pPr indent="0" marL="0">
              <a:buNone/>
            </a:pPr>
            <a:r>
              <a:rPr lang="en-US" sz="1500" b="1" dirty="0">
                <a:solidFill>
                  <a:srgbClr val="132219"/>
                </a:solidFill>
                <a:latin typeface="Georgia" pitchFamily="34" charset="0"/>
                <a:ea typeface="Georgia" pitchFamily="34" charset="-122"/>
                <a:cs typeface="Georgia" pitchFamily="34" charset="-120"/>
              </a:rPr>
              <a:t>Local evidence</a:t>
            </a:r>
            <a:endParaRPr lang="en-US" sz="1500" dirty="0"/>
          </a:p>
          <a:p>
            <a:pPr indent="0" marL="0">
              <a:buNone/>
            </a:pPr>
            <a:r>
              <a:rPr lang="en-US" sz="1500" b="1" dirty="0">
                <a:solidFill>
                  <a:srgbClr val="132219"/>
                </a:solidFill>
                <a:latin typeface="Georgia" pitchFamily="34" charset="0"/>
                <a:ea typeface="Georgia" pitchFamily="34" charset="-122"/>
                <a:cs typeface="Georgia" pitchFamily="34" charset="-120"/>
              </a:rPr>
              <a:t>before an answer.</a:t>
            </a:r>
            <a:endParaRPr lang="en-US" sz="1500" dirty="0"/>
          </a:p>
        </p:txBody>
      </p:sp>
      <p:sp>
        <p:nvSpPr>
          <p:cNvPr id="18" name="Text 16"/>
          <p:cNvSpPr/>
          <p:nvPr/>
        </p:nvSpPr>
        <p:spPr>
          <a:xfrm>
            <a:off x="3474720" y="3090672"/>
            <a:ext cx="2651760" cy="457200"/>
          </a:xfrm>
          <a:prstGeom prst="rect">
            <a:avLst/>
          </a:prstGeom>
          <a:noFill/>
          <a:ln/>
        </p:spPr>
        <p:txBody>
          <a:bodyPr wrap="square" lIns="0" tIns="0" rIns="0" bIns="0" rtlCol="0" anchor="ctr"/>
          <a:lstStyle/>
          <a:p>
            <a:pPr indent="0" marL="0">
              <a:buNone/>
            </a:pPr>
            <a:r>
              <a:rPr lang="en-US" sz="1200" dirty="0">
                <a:solidFill>
                  <a:srgbClr val="5D6B63"/>
                </a:solidFill>
                <a:latin typeface="Arial" pitchFamily="34" charset="0"/>
                <a:ea typeface="Arial" pitchFamily="34" charset="-122"/>
                <a:cs typeface="Arial" pitchFamily="34" charset="-120"/>
              </a:rPr>
              <a:t>Soil Health Card · soil grids · weather · mandi prices · agronomy rules.</a:t>
            </a:r>
            <a:endParaRPr lang="en-US" sz="1200" dirty="0"/>
          </a:p>
        </p:txBody>
      </p:sp>
      <p:sp>
        <p:nvSpPr>
          <p:cNvPr id="19" name="Shape 17"/>
          <p:cNvSpPr/>
          <p:nvPr/>
        </p:nvSpPr>
        <p:spPr>
          <a:xfrm>
            <a:off x="6355080" y="2148840"/>
            <a:ext cx="2606040" cy="45720"/>
          </a:xfrm>
          <a:prstGeom prst="rect">
            <a:avLst/>
          </a:prstGeom>
          <a:solidFill>
            <a:srgbClr val="D24E3F"/>
          </a:solidFill>
          <a:ln w="12700">
            <a:solidFill>
              <a:srgbClr val="D24E3F"/>
            </a:solidFill>
            <a:prstDash val="solid"/>
          </a:ln>
        </p:spPr>
      </p:sp>
      <p:sp>
        <p:nvSpPr>
          <p:cNvPr id="20" name="Text 18"/>
          <p:cNvSpPr/>
          <p:nvPr/>
        </p:nvSpPr>
        <p:spPr>
          <a:xfrm>
            <a:off x="6355080" y="2267712"/>
            <a:ext cx="594360" cy="256032"/>
          </a:xfrm>
          <a:prstGeom prst="rect">
            <a:avLst/>
          </a:prstGeom>
          <a:noFill/>
          <a:ln/>
        </p:spPr>
        <p:txBody>
          <a:bodyPr wrap="square" lIns="0" tIns="0" rIns="0" bIns="0" rtlCol="0" anchor="ctr"/>
          <a:lstStyle/>
          <a:p>
            <a:pPr indent="0" marL="0">
              <a:buNone/>
            </a:pPr>
            <a:r>
              <a:rPr lang="en-US" sz="1700" b="1" dirty="0">
                <a:solidFill>
                  <a:srgbClr val="D24E3F"/>
                </a:solidFill>
                <a:latin typeface="Georgia" pitchFamily="34" charset="0"/>
                <a:ea typeface="Georgia" pitchFamily="34" charset="-122"/>
                <a:cs typeface="Georgia" pitchFamily="34" charset="-120"/>
              </a:rPr>
              <a:t>03</a:t>
            </a:r>
            <a:endParaRPr lang="en-US" sz="1700" dirty="0"/>
          </a:p>
        </p:txBody>
      </p:sp>
      <p:sp>
        <p:nvSpPr>
          <p:cNvPr id="21" name="Text 19"/>
          <p:cNvSpPr/>
          <p:nvPr/>
        </p:nvSpPr>
        <p:spPr>
          <a:xfrm>
            <a:off x="6995160" y="2304288"/>
            <a:ext cx="1828800" cy="182880"/>
          </a:xfrm>
          <a:prstGeom prst="rect">
            <a:avLst/>
          </a:prstGeom>
          <a:noFill/>
          <a:ln/>
        </p:spPr>
        <p:txBody>
          <a:bodyPr wrap="square" lIns="0" tIns="0" rIns="0" bIns="0" rtlCol="0" anchor="ctr"/>
          <a:lstStyle/>
          <a:p>
            <a:pPr indent="0" marL="0">
              <a:buNone/>
            </a:pPr>
            <a:r>
              <a:rPr lang="en-US" sz="1000" b="1" spc="100" kern="0" dirty="0">
                <a:solidFill>
                  <a:srgbClr val="5D6B63"/>
                </a:solidFill>
                <a:latin typeface="Arial" pitchFamily="34" charset="0"/>
                <a:ea typeface="Arial" pitchFamily="34" charset="-122"/>
                <a:cs typeface="Arial" pitchFamily="34" charset="-120"/>
              </a:rPr>
              <a:t>GUARD</a:t>
            </a:r>
            <a:endParaRPr lang="en-US" sz="1000" dirty="0"/>
          </a:p>
        </p:txBody>
      </p:sp>
      <p:sp>
        <p:nvSpPr>
          <p:cNvPr id="22" name="Text 20"/>
          <p:cNvSpPr/>
          <p:nvPr/>
        </p:nvSpPr>
        <p:spPr>
          <a:xfrm>
            <a:off x="6355080" y="2578608"/>
            <a:ext cx="2651760" cy="457200"/>
          </a:xfrm>
          <a:prstGeom prst="rect">
            <a:avLst/>
          </a:prstGeom>
          <a:noFill/>
          <a:ln/>
        </p:spPr>
        <p:txBody>
          <a:bodyPr wrap="square" lIns="0" tIns="0" rIns="0" bIns="0" rtlCol="0" anchor="ctr"/>
          <a:lstStyle/>
          <a:p>
            <a:pPr indent="0" marL="0">
              <a:buNone/>
            </a:pPr>
            <a:r>
              <a:rPr lang="en-US" sz="1500" b="1" dirty="0">
                <a:solidFill>
                  <a:srgbClr val="132219"/>
                </a:solidFill>
                <a:latin typeface="Georgia" pitchFamily="34" charset="0"/>
                <a:ea typeface="Georgia" pitchFamily="34" charset="-122"/>
                <a:cs typeface="Georgia" pitchFamily="34" charset="-120"/>
              </a:rPr>
              <a:t>Confidence and</a:t>
            </a:r>
            <a:endParaRPr lang="en-US" sz="1500" dirty="0"/>
          </a:p>
          <a:p>
            <a:pPr indent="0" marL="0">
              <a:buNone/>
            </a:pPr>
            <a:r>
              <a:rPr lang="en-US" sz="1500" b="1" dirty="0">
                <a:solidFill>
                  <a:srgbClr val="132219"/>
                </a:solidFill>
                <a:latin typeface="Georgia" pitchFamily="34" charset="0"/>
                <a:ea typeface="Georgia" pitchFamily="34" charset="-122"/>
                <a:cs typeface="Georgia" pitchFamily="34" charset="-120"/>
              </a:rPr>
              <a:t>risk gate.</a:t>
            </a:r>
            <a:endParaRPr lang="en-US" sz="1500" dirty="0"/>
          </a:p>
        </p:txBody>
      </p:sp>
      <p:sp>
        <p:nvSpPr>
          <p:cNvPr id="23" name="Text 21"/>
          <p:cNvSpPr/>
          <p:nvPr/>
        </p:nvSpPr>
        <p:spPr>
          <a:xfrm>
            <a:off x="6355080" y="3090672"/>
            <a:ext cx="2651760" cy="457200"/>
          </a:xfrm>
          <a:prstGeom prst="rect">
            <a:avLst/>
          </a:prstGeom>
          <a:noFill/>
          <a:ln/>
        </p:spPr>
        <p:txBody>
          <a:bodyPr wrap="square" lIns="0" tIns="0" rIns="0" bIns="0" rtlCol="0" anchor="ctr"/>
          <a:lstStyle/>
          <a:p>
            <a:pPr indent="0" marL="0">
              <a:buNone/>
            </a:pPr>
            <a:r>
              <a:rPr lang="en-US" sz="1200" dirty="0">
                <a:solidFill>
                  <a:srgbClr val="5D6B63"/>
                </a:solidFill>
                <a:latin typeface="Arial" pitchFamily="34" charset="0"/>
                <a:ea typeface="Arial" pitchFamily="34" charset="-122"/>
                <a:cs typeface="Arial" pitchFamily="34" charset="-120"/>
              </a:rPr>
              <a:t>Clear case → next action. Low confidence → RSK / KVK handoff (48-hr target).</a:t>
            </a:r>
            <a:endParaRPr lang="en-US" sz="1200" dirty="0"/>
          </a:p>
        </p:txBody>
      </p:sp>
      <p:sp>
        <p:nvSpPr>
          <p:cNvPr id="24" name="Shape 22"/>
          <p:cNvSpPr/>
          <p:nvPr/>
        </p:nvSpPr>
        <p:spPr>
          <a:xfrm>
            <a:off x="9235440" y="2148840"/>
            <a:ext cx="2606040" cy="45720"/>
          </a:xfrm>
          <a:prstGeom prst="rect">
            <a:avLst/>
          </a:prstGeom>
          <a:solidFill>
            <a:srgbClr val="103D2C"/>
          </a:solidFill>
          <a:ln w="12700">
            <a:solidFill>
              <a:srgbClr val="103D2C"/>
            </a:solidFill>
            <a:prstDash val="solid"/>
          </a:ln>
        </p:spPr>
      </p:sp>
      <p:sp>
        <p:nvSpPr>
          <p:cNvPr id="25" name="Text 23"/>
          <p:cNvSpPr/>
          <p:nvPr/>
        </p:nvSpPr>
        <p:spPr>
          <a:xfrm>
            <a:off x="9235440" y="2267712"/>
            <a:ext cx="594360" cy="256032"/>
          </a:xfrm>
          <a:prstGeom prst="rect">
            <a:avLst/>
          </a:prstGeom>
          <a:noFill/>
          <a:ln/>
        </p:spPr>
        <p:txBody>
          <a:bodyPr wrap="square" lIns="0" tIns="0" rIns="0" bIns="0" rtlCol="0" anchor="ctr"/>
          <a:lstStyle/>
          <a:p>
            <a:pPr indent="0" marL="0">
              <a:buNone/>
            </a:pPr>
            <a:r>
              <a:rPr lang="en-US" sz="1700" b="1" dirty="0">
                <a:solidFill>
                  <a:srgbClr val="103D2C"/>
                </a:solidFill>
                <a:latin typeface="Georgia" pitchFamily="34" charset="0"/>
                <a:ea typeface="Georgia" pitchFamily="34" charset="-122"/>
                <a:cs typeface="Georgia" pitchFamily="34" charset="-120"/>
              </a:rPr>
              <a:t>04</a:t>
            </a:r>
            <a:endParaRPr lang="en-US" sz="1700" dirty="0"/>
          </a:p>
        </p:txBody>
      </p:sp>
      <p:sp>
        <p:nvSpPr>
          <p:cNvPr id="26" name="Text 24"/>
          <p:cNvSpPr/>
          <p:nvPr/>
        </p:nvSpPr>
        <p:spPr>
          <a:xfrm>
            <a:off x="9875520" y="2304288"/>
            <a:ext cx="1828800" cy="182880"/>
          </a:xfrm>
          <a:prstGeom prst="rect">
            <a:avLst/>
          </a:prstGeom>
          <a:noFill/>
          <a:ln/>
        </p:spPr>
        <p:txBody>
          <a:bodyPr wrap="square" lIns="0" tIns="0" rIns="0" bIns="0" rtlCol="0" anchor="ctr"/>
          <a:lstStyle/>
          <a:p>
            <a:pPr indent="0" marL="0">
              <a:buNone/>
            </a:pPr>
            <a:r>
              <a:rPr lang="en-US" sz="1000" b="1" spc="100" kern="0" dirty="0">
                <a:solidFill>
                  <a:srgbClr val="5D6B63"/>
                </a:solidFill>
                <a:latin typeface="Arial" pitchFamily="34" charset="0"/>
                <a:ea typeface="Arial" pitchFamily="34" charset="-122"/>
                <a:cs typeface="Arial" pitchFamily="34" charset="-120"/>
              </a:rPr>
              <a:t>LEARN</a:t>
            </a:r>
            <a:endParaRPr lang="en-US" sz="1000" dirty="0"/>
          </a:p>
        </p:txBody>
      </p:sp>
      <p:sp>
        <p:nvSpPr>
          <p:cNvPr id="27" name="Text 25"/>
          <p:cNvSpPr/>
          <p:nvPr/>
        </p:nvSpPr>
        <p:spPr>
          <a:xfrm>
            <a:off x="9235440" y="2578608"/>
            <a:ext cx="2651760" cy="457200"/>
          </a:xfrm>
          <a:prstGeom prst="rect">
            <a:avLst/>
          </a:prstGeom>
          <a:noFill/>
          <a:ln/>
        </p:spPr>
        <p:txBody>
          <a:bodyPr wrap="square" lIns="0" tIns="0" rIns="0" bIns="0" rtlCol="0" anchor="ctr"/>
          <a:lstStyle/>
          <a:p>
            <a:pPr indent="0" marL="0">
              <a:buNone/>
            </a:pPr>
            <a:r>
              <a:rPr lang="en-US" sz="1500" b="1" dirty="0">
                <a:solidFill>
                  <a:srgbClr val="132219"/>
                </a:solidFill>
                <a:latin typeface="Georgia" pitchFamily="34" charset="0"/>
                <a:ea typeface="Georgia" pitchFamily="34" charset="-122"/>
                <a:cs typeface="Georgia" pitchFamily="34" charset="-120"/>
              </a:rPr>
              <a:t>A block-level</a:t>
            </a:r>
            <a:endParaRPr lang="en-US" sz="1500" dirty="0"/>
          </a:p>
          <a:p>
            <a:pPr indent="0" marL="0">
              <a:buNone/>
            </a:pPr>
            <a:r>
              <a:rPr lang="en-US" sz="1500" b="1" dirty="0">
                <a:solidFill>
                  <a:srgbClr val="132219"/>
                </a:solidFill>
                <a:latin typeface="Georgia" pitchFamily="34" charset="0"/>
                <a:ea typeface="Georgia" pitchFamily="34" charset="-122"/>
                <a:cs typeface="Georgia" pitchFamily="34" charset="-120"/>
              </a:rPr>
              <a:t>early warning.</a:t>
            </a:r>
            <a:endParaRPr lang="en-US" sz="1500" dirty="0"/>
          </a:p>
        </p:txBody>
      </p:sp>
      <p:sp>
        <p:nvSpPr>
          <p:cNvPr id="28" name="Text 26"/>
          <p:cNvSpPr/>
          <p:nvPr/>
        </p:nvSpPr>
        <p:spPr>
          <a:xfrm>
            <a:off x="9235440" y="3090672"/>
            <a:ext cx="2651760" cy="457200"/>
          </a:xfrm>
          <a:prstGeom prst="rect">
            <a:avLst/>
          </a:prstGeom>
          <a:noFill/>
          <a:ln/>
        </p:spPr>
        <p:txBody>
          <a:bodyPr wrap="square" lIns="0" tIns="0" rIns="0" bIns="0" rtlCol="0" anchor="ctr"/>
          <a:lstStyle/>
          <a:p>
            <a:pPr indent="0" marL="0">
              <a:buNone/>
            </a:pPr>
            <a:r>
              <a:rPr lang="en-US" sz="1200" dirty="0">
                <a:solidFill>
                  <a:srgbClr val="5D6B63"/>
                </a:solidFill>
                <a:latin typeface="Arial" pitchFamily="34" charset="0"/>
                <a:ea typeface="Arial" pitchFamily="34" charset="-122"/>
                <a:cs typeface="Arial" pitchFamily="34" charset="-120"/>
              </a:rPr>
              <a:t>Clustered reports → officer review → alert only the affected block.</a:t>
            </a:r>
            <a:endParaRPr lang="en-US" sz="1200" dirty="0"/>
          </a:p>
        </p:txBody>
      </p:sp>
      <p:sp>
        <p:nvSpPr>
          <p:cNvPr id="29" name="Shape 27"/>
          <p:cNvSpPr/>
          <p:nvPr/>
        </p:nvSpPr>
        <p:spPr>
          <a:xfrm>
            <a:off x="594360" y="3657600"/>
            <a:ext cx="5436108" cy="2807208"/>
          </a:xfrm>
          <a:prstGeom prst="roundRect">
            <a:avLst>
              <a:gd name="adj" fmla="val 1303"/>
            </a:avLst>
          </a:prstGeom>
          <a:solidFill>
            <a:srgbClr val="FFFFFF"/>
          </a:solidFill>
          <a:ln w="6350">
            <a:solidFill>
              <a:srgbClr val="C9D4CC"/>
            </a:solidFill>
            <a:prstDash val="solid"/>
          </a:ln>
        </p:spPr>
      </p:sp>
      <p:sp>
        <p:nvSpPr>
          <p:cNvPr id="30" name="Shape 28"/>
          <p:cNvSpPr/>
          <p:nvPr/>
        </p:nvSpPr>
        <p:spPr>
          <a:xfrm>
            <a:off x="594360" y="3657600"/>
            <a:ext cx="5436108" cy="292608"/>
          </a:xfrm>
          <a:prstGeom prst="rect">
            <a:avLst/>
          </a:prstGeom>
          <a:solidFill>
            <a:srgbClr val="103D2C"/>
          </a:solidFill>
          <a:ln w="12700">
            <a:solidFill>
              <a:srgbClr val="103D2C"/>
            </a:solidFill>
            <a:prstDash val="solid"/>
          </a:ln>
        </p:spPr>
      </p:sp>
      <p:sp>
        <p:nvSpPr>
          <p:cNvPr id="31" name="Text 29"/>
          <p:cNvSpPr/>
          <p:nvPr/>
        </p:nvSpPr>
        <p:spPr>
          <a:xfrm>
            <a:off x="731520" y="3703320"/>
            <a:ext cx="5161788" cy="20116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DISTRICT CONTROL ROOM  ·  /command</a:t>
            </a:r>
            <a:endParaRPr lang="en-US" sz="1100" dirty="0"/>
          </a:p>
        </p:txBody>
      </p:sp>
      <p:sp>
        <p:nvSpPr>
          <p:cNvPr id="32" name="Shape 30"/>
          <p:cNvSpPr/>
          <p:nvPr/>
        </p:nvSpPr>
        <p:spPr>
          <a:xfrm>
            <a:off x="704088" y="4023360"/>
            <a:ext cx="5180076" cy="2331720"/>
          </a:xfrm>
          <a:prstGeom prst="rect">
            <a:avLst/>
          </a:prstGeom>
          <a:solidFill>
            <a:srgbClr val="F7F4ED"/>
          </a:solidFill>
          <a:ln w="12700">
            <a:solidFill>
              <a:srgbClr val="F7F4ED"/>
            </a:solidFill>
            <a:prstDash val="solid"/>
          </a:ln>
        </p:spPr>
      </p:sp>
      <p:pic>
        <p:nvPicPr>
          <p:cNvPr id="33" name="Image 0" descr="/Users/krishgoyal/Claude/kisan-vaani-deck/assets/shot-command.png">    </p:cNvPr>
          <p:cNvPicPr>
            <a:picLocks noChangeAspect="1"/>
          </p:cNvPicPr>
          <p:nvPr/>
        </p:nvPicPr>
        <p:blipFill>
          <a:blip r:embed="rId1"/>
          <a:stretch>
            <a:fillRect/>
          </a:stretch>
        </p:blipFill>
        <p:spPr>
          <a:xfrm>
            <a:off x="1428750" y="4023360"/>
            <a:ext cx="3730752" cy="2331720"/>
          </a:xfrm>
          <a:prstGeom prst="rect">
            <a:avLst/>
          </a:prstGeom>
        </p:spPr>
      </p:pic>
      <p:sp>
        <p:nvSpPr>
          <p:cNvPr id="34" name="Shape 31"/>
          <p:cNvSpPr/>
          <p:nvPr/>
        </p:nvSpPr>
        <p:spPr>
          <a:xfrm>
            <a:off x="6176772" y="3657600"/>
            <a:ext cx="5436108" cy="2807208"/>
          </a:xfrm>
          <a:prstGeom prst="roundRect">
            <a:avLst>
              <a:gd name="adj" fmla="val 1303"/>
            </a:avLst>
          </a:prstGeom>
          <a:solidFill>
            <a:srgbClr val="FFFFFF"/>
          </a:solidFill>
          <a:ln w="6350">
            <a:solidFill>
              <a:srgbClr val="C9D4CC"/>
            </a:solidFill>
            <a:prstDash val="solid"/>
          </a:ln>
        </p:spPr>
      </p:sp>
      <p:sp>
        <p:nvSpPr>
          <p:cNvPr id="35" name="Shape 32"/>
          <p:cNvSpPr/>
          <p:nvPr/>
        </p:nvSpPr>
        <p:spPr>
          <a:xfrm>
            <a:off x="6176772" y="3657600"/>
            <a:ext cx="5436108" cy="292608"/>
          </a:xfrm>
          <a:prstGeom prst="rect">
            <a:avLst/>
          </a:prstGeom>
          <a:solidFill>
            <a:srgbClr val="103D2C"/>
          </a:solidFill>
          <a:ln w="12700">
            <a:solidFill>
              <a:srgbClr val="103D2C"/>
            </a:solidFill>
            <a:prstDash val="solid"/>
          </a:ln>
        </p:spPr>
      </p:sp>
      <p:sp>
        <p:nvSpPr>
          <p:cNvPr id="36" name="Text 33"/>
          <p:cNvSpPr/>
          <p:nvPr/>
        </p:nvSpPr>
        <p:spPr>
          <a:xfrm>
            <a:off x="6313932" y="3703320"/>
            <a:ext cx="5161788" cy="20116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FARMER PHONE EXPERIENCE  ·  /demo  ·  12 languages</a:t>
            </a:r>
            <a:endParaRPr lang="en-US" sz="1100" dirty="0"/>
          </a:p>
        </p:txBody>
      </p:sp>
      <p:sp>
        <p:nvSpPr>
          <p:cNvPr id="37" name="Shape 34"/>
          <p:cNvSpPr/>
          <p:nvPr/>
        </p:nvSpPr>
        <p:spPr>
          <a:xfrm>
            <a:off x="6286500" y="4023360"/>
            <a:ext cx="5180076" cy="2331720"/>
          </a:xfrm>
          <a:prstGeom prst="rect">
            <a:avLst/>
          </a:prstGeom>
          <a:solidFill>
            <a:srgbClr val="F7F4ED"/>
          </a:solidFill>
          <a:ln w="12700">
            <a:solidFill>
              <a:srgbClr val="F7F4ED"/>
            </a:solidFill>
            <a:prstDash val="solid"/>
          </a:ln>
        </p:spPr>
      </p:sp>
      <p:pic>
        <p:nvPicPr>
          <p:cNvPr id="38" name="Image 1" descr="/Users/krishgoyal/Claude/kisan-vaani-deck/assets/shot-demo.png">    </p:cNvPr>
          <p:cNvPicPr>
            <a:picLocks noChangeAspect="1"/>
          </p:cNvPicPr>
          <p:nvPr/>
        </p:nvPicPr>
        <p:blipFill>
          <a:blip r:embed="rId2"/>
          <a:stretch>
            <a:fillRect/>
          </a:stretch>
        </p:blipFill>
        <p:spPr>
          <a:xfrm>
            <a:off x="7141305" y="4023360"/>
            <a:ext cx="3470467" cy="2331720"/>
          </a:xfrm>
          <a:prstGeom prst="rect">
            <a:avLst/>
          </a:prstGeom>
        </p:spPr>
      </p:pic>
      <p:sp>
        <p:nvSpPr>
          <p:cNvPr id="39" name="Text 35"/>
          <p:cNvSpPr/>
          <p:nvPr/>
        </p:nvSpPr>
        <p:spPr>
          <a:xfrm>
            <a:off x="594360" y="6565392"/>
            <a:ext cx="10058400" cy="128016"/>
          </a:xfrm>
          <a:prstGeom prst="rect">
            <a:avLst/>
          </a:prstGeom>
          <a:noFill/>
          <a:ln/>
        </p:spPr>
        <p:txBody>
          <a:bodyPr wrap="square" lIns="0" tIns="0" rIns="0" bIns="0" rtlCol="0" anchor="ctr"/>
          <a:lstStyle/>
          <a:p>
            <a:pPr indent="0" marL="0">
              <a:buNone/>
            </a:pPr>
            <a:r>
              <a:rPr lang="en-US" sz="700" dirty="0">
                <a:solidFill>
                  <a:srgbClr val="5D6B63"/>
                </a:solidFill>
                <a:latin typeface="Arial" pitchFamily="34" charset="0"/>
                <a:ea typeface="Arial" pitchFamily="34" charset="-122"/>
                <a:cs typeface="Arial" pitchFamily="34" charset="-120"/>
              </a:rPr>
              <a:t>Try now: +1 254 272 6372  ·  kisan-vaani.vercel.app  ·  github.com/frenchfryfeatures/kisan-vaani</a:t>
            </a:r>
            <a:endParaRPr lang="en-US" sz="700" dirty="0"/>
          </a:p>
        </p:txBody>
      </p:sp>
      <p:sp>
        <p:nvSpPr>
          <p:cNvPr id="40" name="Text 36"/>
          <p:cNvSpPr/>
          <p:nvPr/>
        </p:nvSpPr>
        <p:spPr>
          <a:xfrm>
            <a:off x="11064240" y="6565392"/>
            <a:ext cx="640080" cy="164592"/>
          </a:xfrm>
          <a:prstGeom prst="rect">
            <a:avLst/>
          </a:prstGeom>
          <a:noFill/>
          <a:ln/>
        </p:spPr>
        <p:txBody>
          <a:bodyPr wrap="square" lIns="0" tIns="0" rIns="0" bIns="0" rtlCol="0" anchor="ctr"/>
          <a:lstStyle/>
          <a:p>
            <a:pPr algn="r" indent="0" marL="0">
              <a:buNone/>
            </a:pPr>
            <a:r>
              <a:rPr lang="en-US" sz="750" dirty="0">
                <a:solidFill>
                  <a:srgbClr val="5D6B63"/>
                </a:solidFill>
                <a:latin typeface="Arial" pitchFamily="34" charset="0"/>
                <a:ea typeface="Arial" pitchFamily="34" charset="-122"/>
                <a:cs typeface="Arial" pitchFamily="34" charset="-120"/>
              </a:rPr>
              <a:t>02 / 03</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F22"/>
        </a:solidFill>
      </p:bgPr>
    </p:bg>
    <p:spTree>
      <p:nvGrpSpPr>
        <p:cNvPr id="1" name=""/>
        <p:cNvGrpSpPr/>
        <p:nvPr/>
      </p:nvGrpSpPr>
      <p:grpSpPr>
        <a:xfrm>
          <a:off x="0" y="0"/>
          <a:ext cx="0" cy="0"/>
          <a:chOff x="0" y="0"/>
          <a:chExt cx="0" cy="0"/>
        </a:xfrm>
      </p:grpSpPr>
      <p:sp>
        <p:nvSpPr>
          <p:cNvPr id="2" name="Shape 0"/>
          <p:cNvSpPr/>
          <p:nvPr/>
        </p:nvSpPr>
        <p:spPr>
          <a:xfrm>
            <a:off x="594360" y="347472"/>
            <a:ext cx="54864" cy="219456"/>
          </a:xfrm>
          <a:prstGeom prst="rect">
            <a:avLst/>
          </a:prstGeom>
          <a:solidFill>
            <a:srgbClr val="E9A91B"/>
          </a:solidFill>
          <a:ln w="12700">
            <a:solidFill>
              <a:srgbClr val="E9A91B"/>
            </a:solidFill>
            <a:prstDash val="solid"/>
          </a:ln>
        </p:spPr>
      </p:sp>
      <p:sp>
        <p:nvSpPr>
          <p:cNvPr id="3" name="Text 1"/>
          <p:cNvSpPr/>
          <p:nvPr/>
        </p:nvSpPr>
        <p:spPr>
          <a:xfrm>
            <a:off x="749808" y="320040"/>
            <a:ext cx="20116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KISANVAANI</a:t>
            </a:r>
            <a:endParaRPr lang="en-US" sz="1200" dirty="0"/>
          </a:p>
        </p:txBody>
      </p:sp>
      <p:sp>
        <p:nvSpPr>
          <p:cNvPr id="4" name="Text 2"/>
          <p:cNvSpPr/>
          <p:nvPr/>
        </p:nvSpPr>
        <p:spPr>
          <a:xfrm>
            <a:off x="7498080" y="347472"/>
            <a:ext cx="4114800" cy="219456"/>
          </a:xfrm>
          <a:prstGeom prst="rect">
            <a:avLst/>
          </a:prstGeom>
          <a:noFill/>
          <a:ln/>
        </p:spPr>
        <p:txBody>
          <a:bodyPr wrap="square" lIns="0" tIns="0" rIns="0" bIns="0" rtlCol="0" anchor="ctr"/>
          <a:lstStyle/>
          <a:p>
            <a:pPr algn="r" indent="0" marL="0">
              <a:buNone/>
            </a:pPr>
            <a:r>
              <a:rPr lang="en-US" sz="850" dirty="0">
                <a:solidFill>
                  <a:srgbClr val="D8E4DA"/>
                </a:solidFill>
                <a:latin typeface="Arial" pitchFamily="34" charset="0"/>
                <a:ea typeface="Arial" pitchFamily="34" charset="-122"/>
                <a:cs typeface="Arial" pitchFamily="34" charset="-120"/>
              </a:rPr>
              <a:t>VISHWAKARMA DEVS  ·  KISAN ALERT WINNER</a:t>
            </a:r>
            <a:endParaRPr lang="en-US" sz="850" dirty="0"/>
          </a:p>
        </p:txBody>
      </p:sp>
      <p:sp>
        <p:nvSpPr>
          <p:cNvPr id="5" name="Text 3"/>
          <p:cNvSpPr/>
          <p:nvPr/>
        </p:nvSpPr>
        <p:spPr>
          <a:xfrm>
            <a:off x="594360" y="804672"/>
            <a:ext cx="7315200" cy="201168"/>
          </a:xfrm>
          <a:prstGeom prst="rect">
            <a:avLst/>
          </a:prstGeom>
          <a:noFill/>
          <a:ln/>
        </p:spPr>
        <p:txBody>
          <a:bodyPr wrap="square" lIns="0" tIns="0" rIns="0" bIns="0" rtlCol="0" anchor="ctr"/>
          <a:lstStyle/>
          <a:p>
            <a:pPr indent="0" marL="0">
              <a:buNone/>
            </a:pPr>
            <a:r>
              <a:rPr lang="en-US" sz="1000" b="1" spc="80" kern="0" dirty="0">
                <a:solidFill>
                  <a:srgbClr val="E9A91B"/>
                </a:solidFill>
                <a:latin typeface="Arial" pitchFamily="34" charset="0"/>
                <a:ea typeface="Arial" pitchFamily="34" charset="-122"/>
                <a:cs typeface="Arial" pitchFamily="34" charset="-120"/>
              </a:rPr>
              <a:t>IMPACT  ·  PILOT DECISION</a:t>
            </a:r>
            <a:endParaRPr lang="en-US" sz="1000" dirty="0"/>
          </a:p>
        </p:txBody>
      </p:sp>
      <p:sp>
        <p:nvSpPr>
          <p:cNvPr id="6" name="Text 4"/>
          <p:cNvSpPr/>
          <p:nvPr/>
        </p:nvSpPr>
        <p:spPr>
          <a:xfrm>
            <a:off x="594360" y="1078992"/>
            <a:ext cx="10972800" cy="8686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Low cost. Measured pilot.</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Simple asks—no new scheme.</a:t>
            </a:r>
            <a:endParaRPr lang="en-US" sz="3200" dirty="0"/>
          </a:p>
        </p:txBody>
      </p:sp>
      <p:sp>
        <p:nvSpPr>
          <p:cNvPr id="7" name="Text 5"/>
          <p:cNvSpPr/>
          <p:nvPr/>
        </p:nvSpPr>
        <p:spPr>
          <a:xfrm>
            <a:off x="594360" y="2011680"/>
            <a:ext cx="10515600" cy="274320"/>
          </a:xfrm>
          <a:prstGeom prst="rect">
            <a:avLst/>
          </a:prstGeom>
          <a:noFill/>
          <a:ln/>
        </p:spPr>
        <p:txBody>
          <a:bodyPr wrap="square" lIns="0" tIns="0" rIns="0" bIns="0" rtlCol="0" anchor="ctr"/>
          <a:lstStyle/>
          <a:p>
            <a:pPr indent="0" marL="0">
              <a:buNone/>
            </a:pPr>
            <a:r>
              <a:rPr lang="en-US" sz="1400" dirty="0">
                <a:solidFill>
                  <a:srgbClr val="C9D8CE"/>
                </a:solidFill>
                <a:latin typeface="Arial" pitchFamily="34" charset="0"/>
                <a:ea typeface="Arial" pitchFamily="34" charset="-122"/>
                <a:cs typeface="Arial" pitchFamily="34" charset="-120"/>
              </a:rPr>
              <a:t>One mandal in Narasaraopet this rabi. Measure against control blocks. Scale only if the evidence holds.</a:t>
            </a:r>
            <a:endParaRPr lang="en-US" sz="1400" dirty="0"/>
          </a:p>
        </p:txBody>
      </p:sp>
      <p:sp>
        <p:nvSpPr>
          <p:cNvPr id="8" name="Shape 6"/>
          <p:cNvSpPr/>
          <p:nvPr/>
        </p:nvSpPr>
        <p:spPr>
          <a:xfrm>
            <a:off x="594360" y="2423160"/>
            <a:ext cx="2743200" cy="1143000"/>
          </a:xfrm>
          <a:prstGeom prst="roundRect">
            <a:avLst>
              <a:gd name="adj" fmla="val 5600"/>
            </a:avLst>
          </a:prstGeom>
          <a:solidFill>
            <a:srgbClr val="1A4D3A"/>
          </a:solidFill>
          <a:ln w="12700">
            <a:solidFill>
              <a:srgbClr val="1A4D3A"/>
            </a:solidFill>
            <a:prstDash val="solid"/>
          </a:ln>
        </p:spPr>
      </p:sp>
      <p:sp>
        <p:nvSpPr>
          <p:cNvPr id="9" name="Text 7"/>
          <p:cNvSpPr/>
          <p:nvPr/>
        </p:nvSpPr>
        <p:spPr>
          <a:xfrm>
            <a:off x="731520" y="2542032"/>
            <a:ext cx="2468880" cy="365760"/>
          </a:xfrm>
          <a:prstGeom prst="rect">
            <a:avLst/>
          </a:prstGeom>
          <a:noFill/>
          <a:ln/>
        </p:spPr>
        <p:txBody>
          <a:bodyPr wrap="square" lIns="0" tIns="0" rIns="0" bIns="0" rtlCol="0" anchor="ctr"/>
          <a:lstStyle/>
          <a:p>
            <a:pPr indent="0" marL="0">
              <a:buNone/>
            </a:pPr>
            <a:r>
              <a:rPr lang="en-US" sz="2400" b="1" dirty="0">
                <a:solidFill>
                  <a:srgbClr val="E9A91B"/>
                </a:solidFill>
                <a:latin typeface="Georgia" pitchFamily="34" charset="0"/>
                <a:ea typeface="Georgia" pitchFamily="34" charset="-122"/>
                <a:cs typeface="Georgia" pitchFamily="34" charset="-120"/>
              </a:rPr>
              <a:t>&lt; ₹12</a:t>
            </a:r>
            <a:endParaRPr lang="en-US" sz="2400" dirty="0"/>
          </a:p>
        </p:txBody>
      </p:sp>
      <p:sp>
        <p:nvSpPr>
          <p:cNvPr id="10" name="Text 8"/>
          <p:cNvSpPr/>
          <p:nvPr/>
        </p:nvSpPr>
        <p:spPr>
          <a:xfrm>
            <a:off x="731520" y="2944368"/>
            <a:ext cx="2468880" cy="2286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per farmer / season</a:t>
            </a:r>
            <a:endParaRPr lang="en-US" sz="1300" dirty="0"/>
          </a:p>
        </p:txBody>
      </p:sp>
      <p:sp>
        <p:nvSpPr>
          <p:cNvPr id="11" name="Text 9"/>
          <p:cNvSpPr/>
          <p:nvPr/>
        </p:nvSpPr>
        <p:spPr>
          <a:xfrm>
            <a:off x="731520" y="3182112"/>
            <a:ext cx="2468880" cy="256032"/>
          </a:xfrm>
          <a:prstGeom prst="rect">
            <a:avLst/>
          </a:prstGeom>
          <a:noFill/>
          <a:ln/>
        </p:spPr>
        <p:txBody>
          <a:bodyPr wrap="square" lIns="0" tIns="0" rIns="0" bIns="0" rtlCol="0" anchor="ctr"/>
          <a:lstStyle/>
          <a:p>
            <a:pPr indent="0" marL="0">
              <a:buNone/>
            </a:pPr>
            <a:r>
              <a:rPr lang="en-US" sz="1100" dirty="0">
                <a:solidFill>
                  <a:srgbClr val="C9D8CE"/>
                </a:solidFill>
                <a:latin typeface="Arial" pitchFamily="34" charset="0"/>
                <a:ea typeface="Arial" pitchFamily="34" charset="-122"/>
                <a:cs typeface="Arial" pitchFamily="34" charset="-120"/>
              </a:rPr>
              <a:t>IVR ₹8 · SMS ₹1.2 · AI &lt; ₹1</a:t>
            </a:r>
            <a:endParaRPr lang="en-US" sz="1100" dirty="0"/>
          </a:p>
        </p:txBody>
      </p:sp>
      <p:sp>
        <p:nvSpPr>
          <p:cNvPr id="12" name="Shape 10"/>
          <p:cNvSpPr/>
          <p:nvPr/>
        </p:nvSpPr>
        <p:spPr>
          <a:xfrm>
            <a:off x="3474720" y="2423160"/>
            <a:ext cx="2743200" cy="1143000"/>
          </a:xfrm>
          <a:prstGeom prst="roundRect">
            <a:avLst>
              <a:gd name="adj" fmla="val 5600"/>
            </a:avLst>
          </a:prstGeom>
          <a:solidFill>
            <a:srgbClr val="1A4D3A"/>
          </a:solidFill>
          <a:ln w="12700">
            <a:solidFill>
              <a:srgbClr val="1A4D3A"/>
            </a:solidFill>
            <a:prstDash val="solid"/>
          </a:ln>
        </p:spPr>
      </p:sp>
      <p:sp>
        <p:nvSpPr>
          <p:cNvPr id="13" name="Text 11"/>
          <p:cNvSpPr/>
          <p:nvPr/>
        </p:nvSpPr>
        <p:spPr>
          <a:xfrm>
            <a:off x="3611880" y="2542032"/>
            <a:ext cx="2468880" cy="365760"/>
          </a:xfrm>
          <a:prstGeom prst="rect">
            <a:avLst/>
          </a:prstGeom>
          <a:noFill/>
          <a:ln/>
        </p:spPr>
        <p:txBody>
          <a:bodyPr wrap="square" lIns="0" tIns="0" rIns="0" bIns="0" rtlCol="0" anchor="ctr"/>
          <a:lstStyle/>
          <a:p>
            <a:pPr indent="0" marL="0">
              <a:buNone/>
            </a:pPr>
            <a:r>
              <a:rPr lang="en-US" sz="2400" b="1" dirty="0">
                <a:solidFill>
                  <a:srgbClr val="E9A91B"/>
                </a:solidFill>
                <a:latin typeface="Georgia" pitchFamily="34" charset="0"/>
                <a:ea typeface="Georgia" pitchFamily="34" charset="-122"/>
                <a:cs typeface="Georgia" pitchFamily="34" charset="-120"/>
              </a:rPr>
              <a:t>≈ 25 : 1</a:t>
            </a:r>
            <a:endParaRPr lang="en-US" sz="2400" dirty="0"/>
          </a:p>
        </p:txBody>
      </p:sp>
      <p:sp>
        <p:nvSpPr>
          <p:cNvPr id="14" name="Text 12"/>
          <p:cNvSpPr/>
          <p:nvPr/>
        </p:nvSpPr>
        <p:spPr>
          <a:xfrm>
            <a:off x="3611880" y="2944368"/>
            <a:ext cx="2468880" cy="2286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indicative return</a:t>
            </a:r>
            <a:endParaRPr lang="en-US" sz="1300" dirty="0"/>
          </a:p>
        </p:txBody>
      </p:sp>
      <p:sp>
        <p:nvSpPr>
          <p:cNvPr id="15" name="Text 13"/>
          <p:cNvSpPr/>
          <p:nvPr/>
        </p:nvSpPr>
        <p:spPr>
          <a:xfrm>
            <a:off x="3611880" y="3182112"/>
            <a:ext cx="2468880" cy="256032"/>
          </a:xfrm>
          <a:prstGeom prst="rect">
            <a:avLst/>
          </a:prstGeom>
          <a:noFill/>
          <a:ln/>
        </p:spPr>
        <p:txBody>
          <a:bodyPr wrap="square" lIns="0" tIns="0" rIns="0" bIns="0" rtlCol="0" anchor="ctr"/>
          <a:lstStyle/>
          <a:p>
            <a:pPr indent="0" marL="0">
              <a:buNone/>
            </a:pPr>
            <a:r>
              <a:rPr lang="en-US" sz="1100" dirty="0">
                <a:solidFill>
                  <a:srgbClr val="C9D8CE"/>
                </a:solidFill>
                <a:latin typeface="Arial" pitchFamily="34" charset="0"/>
                <a:ea typeface="Arial" pitchFamily="34" charset="-122"/>
                <a:cs typeface="Arial" pitchFamily="34" charset="-120"/>
              </a:rPr>
              <a:t>prevent 10% of ~₹6,164 avg loss</a:t>
            </a:r>
            <a:endParaRPr lang="en-US" sz="1100" dirty="0"/>
          </a:p>
        </p:txBody>
      </p:sp>
      <p:sp>
        <p:nvSpPr>
          <p:cNvPr id="16" name="Shape 14"/>
          <p:cNvSpPr/>
          <p:nvPr/>
        </p:nvSpPr>
        <p:spPr>
          <a:xfrm>
            <a:off x="6355080" y="2423160"/>
            <a:ext cx="2743200" cy="1143000"/>
          </a:xfrm>
          <a:prstGeom prst="roundRect">
            <a:avLst>
              <a:gd name="adj" fmla="val 5600"/>
            </a:avLst>
          </a:prstGeom>
          <a:solidFill>
            <a:srgbClr val="1A4D3A"/>
          </a:solidFill>
          <a:ln w="12700">
            <a:solidFill>
              <a:srgbClr val="1A4D3A"/>
            </a:solidFill>
            <a:prstDash val="solid"/>
          </a:ln>
        </p:spPr>
      </p:sp>
      <p:sp>
        <p:nvSpPr>
          <p:cNvPr id="17" name="Text 15"/>
          <p:cNvSpPr/>
          <p:nvPr/>
        </p:nvSpPr>
        <p:spPr>
          <a:xfrm>
            <a:off x="6492240" y="2542032"/>
            <a:ext cx="2468880" cy="365760"/>
          </a:xfrm>
          <a:prstGeom prst="rect">
            <a:avLst/>
          </a:prstGeom>
          <a:noFill/>
          <a:ln/>
        </p:spPr>
        <p:txBody>
          <a:bodyPr wrap="square" lIns="0" tIns="0" rIns="0" bIns="0" rtlCol="0" anchor="ctr"/>
          <a:lstStyle/>
          <a:p>
            <a:pPr indent="0" marL="0">
              <a:buNone/>
            </a:pPr>
            <a:r>
              <a:rPr lang="en-US" sz="2400" b="1" dirty="0">
                <a:solidFill>
                  <a:srgbClr val="E9A91B"/>
                </a:solidFill>
                <a:latin typeface="Georgia" pitchFamily="34" charset="0"/>
                <a:ea typeface="Georgia" pitchFamily="34" charset="-122"/>
                <a:cs typeface="Georgia" pitchFamily="34" charset="-120"/>
              </a:rPr>
              <a:t>₹5 lakh</a:t>
            </a:r>
            <a:endParaRPr lang="en-US" sz="2400" dirty="0"/>
          </a:p>
        </p:txBody>
      </p:sp>
      <p:sp>
        <p:nvSpPr>
          <p:cNvPr id="18" name="Text 16"/>
          <p:cNvSpPr/>
          <p:nvPr/>
        </p:nvSpPr>
        <p:spPr>
          <a:xfrm>
            <a:off x="6492240" y="2944368"/>
            <a:ext cx="2468880" cy="2286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pilot · two seasons</a:t>
            </a:r>
            <a:endParaRPr lang="en-US" sz="1300" dirty="0"/>
          </a:p>
        </p:txBody>
      </p:sp>
      <p:sp>
        <p:nvSpPr>
          <p:cNvPr id="19" name="Text 17"/>
          <p:cNvSpPr/>
          <p:nvPr/>
        </p:nvSpPr>
        <p:spPr>
          <a:xfrm>
            <a:off x="6492240" y="3182112"/>
            <a:ext cx="2468880" cy="256032"/>
          </a:xfrm>
          <a:prstGeom prst="rect">
            <a:avLst/>
          </a:prstGeom>
          <a:noFill/>
          <a:ln/>
        </p:spPr>
        <p:txBody>
          <a:bodyPr wrap="square" lIns="0" tIns="0" rIns="0" bIns="0" rtlCol="0" anchor="ctr"/>
          <a:lstStyle/>
          <a:p>
            <a:pPr indent="0" marL="0">
              <a:buNone/>
            </a:pPr>
            <a:r>
              <a:rPr lang="en-US" sz="1100" dirty="0">
                <a:solidFill>
                  <a:srgbClr val="C9D8CE"/>
                </a:solidFill>
                <a:latin typeface="Arial" pitchFamily="34" charset="0"/>
                <a:ea typeface="Arial" pitchFamily="34" charset="-122"/>
                <a:cs typeface="Arial" pitchFamily="34" charset="-120"/>
              </a:rPr>
              <a:t>~20,000 farmers · one mandal</a:t>
            </a:r>
            <a:endParaRPr lang="en-US" sz="1100" dirty="0"/>
          </a:p>
        </p:txBody>
      </p:sp>
      <p:sp>
        <p:nvSpPr>
          <p:cNvPr id="20" name="Shape 18"/>
          <p:cNvSpPr/>
          <p:nvPr/>
        </p:nvSpPr>
        <p:spPr>
          <a:xfrm>
            <a:off x="9235440" y="2423160"/>
            <a:ext cx="2743200" cy="1143000"/>
          </a:xfrm>
          <a:prstGeom prst="roundRect">
            <a:avLst>
              <a:gd name="adj" fmla="val 5600"/>
            </a:avLst>
          </a:prstGeom>
          <a:solidFill>
            <a:srgbClr val="1A4D3A"/>
          </a:solidFill>
          <a:ln w="12700">
            <a:solidFill>
              <a:srgbClr val="1A4D3A"/>
            </a:solidFill>
            <a:prstDash val="solid"/>
          </a:ln>
        </p:spPr>
      </p:sp>
      <p:sp>
        <p:nvSpPr>
          <p:cNvPr id="21" name="Text 19"/>
          <p:cNvSpPr/>
          <p:nvPr/>
        </p:nvSpPr>
        <p:spPr>
          <a:xfrm>
            <a:off x="9372600" y="2542032"/>
            <a:ext cx="2468880" cy="365760"/>
          </a:xfrm>
          <a:prstGeom prst="rect">
            <a:avLst/>
          </a:prstGeom>
          <a:noFill/>
          <a:ln/>
        </p:spPr>
        <p:txBody>
          <a:bodyPr wrap="square" lIns="0" tIns="0" rIns="0" bIns="0" rtlCol="0" anchor="ctr"/>
          <a:lstStyle/>
          <a:p>
            <a:pPr indent="0" marL="0">
              <a:buNone/>
            </a:pPr>
            <a:r>
              <a:rPr lang="en-US" sz="2400" b="1" dirty="0">
                <a:solidFill>
                  <a:srgbClr val="E9A91B"/>
                </a:solidFill>
                <a:latin typeface="Georgia" pitchFamily="34" charset="0"/>
                <a:ea typeface="Georgia" pitchFamily="34" charset="-122"/>
                <a:cs typeface="Georgia" pitchFamily="34" charset="-120"/>
              </a:rPr>
              <a:t>+10–12%</a:t>
            </a:r>
            <a:endParaRPr lang="en-US" sz="2400" dirty="0"/>
          </a:p>
        </p:txBody>
      </p:sp>
      <p:sp>
        <p:nvSpPr>
          <p:cNvPr id="22" name="Text 20"/>
          <p:cNvSpPr/>
          <p:nvPr/>
        </p:nvSpPr>
        <p:spPr>
          <a:xfrm>
            <a:off x="9372600" y="2944368"/>
            <a:ext cx="2468880" cy="2286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yield gain (field trials)</a:t>
            </a:r>
            <a:endParaRPr lang="en-US" sz="1300" dirty="0"/>
          </a:p>
        </p:txBody>
      </p:sp>
      <p:sp>
        <p:nvSpPr>
          <p:cNvPr id="23" name="Text 21"/>
          <p:cNvSpPr/>
          <p:nvPr/>
        </p:nvSpPr>
        <p:spPr>
          <a:xfrm>
            <a:off x="9372600" y="3182112"/>
            <a:ext cx="2468880" cy="256032"/>
          </a:xfrm>
          <a:prstGeom prst="rect">
            <a:avLst/>
          </a:prstGeom>
          <a:noFill/>
          <a:ln/>
        </p:spPr>
        <p:txBody>
          <a:bodyPr wrap="square" lIns="0" tIns="0" rIns="0" bIns="0" rtlCol="0" anchor="ctr"/>
          <a:lstStyle/>
          <a:p>
            <a:pPr indent="0" marL="0">
              <a:buNone/>
            </a:pPr>
            <a:r>
              <a:rPr lang="en-US" sz="1100" dirty="0">
                <a:solidFill>
                  <a:srgbClr val="C9D8CE"/>
                </a:solidFill>
                <a:latin typeface="Arial" pitchFamily="34" charset="0"/>
                <a:ea typeface="Arial" pitchFamily="34" charset="-122"/>
                <a:cs typeface="Arial" pitchFamily="34" charset="-120"/>
              </a:rPr>
              <a:t>Avaaj Otalo, Gujarat · ACM</a:t>
            </a:r>
            <a:endParaRPr lang="en-US" sz="1100" dirty="0"/>
          </a:p>
        </p:txBody>
      </p:sp>
      <p:sp>
        <p:nvSpPr>
          <p:cNvPr id="24" name="Text 22"/>
          <p:cNvSpPr/>
          <p:nvPr/>
        </p:nvSpPr>
        <p:spPr>
          <a:xfrm>
            <a:off x="594360" y="3749040"/>
            <a:ext cx="10972800" cy="256032"/>
          </a:xfrm>
          <a:prstGeom prst="rect">
            <a:avLst/>
          </a:prstGeom>
          <a:noFill/>
          <a:ln/>
        </p:spPr>
        <p:txBody>
          <a:bodyPr wrap="square" lIns="0" tIns="0" rIns="0" bIns="0" rtlCol="0" anchor="ctr"/>
          <a:lstStyle/>
          <a:p>
            <a:pPr indent="0" marL="0">
              <a:buNone/>
            </a:pPr>
            <a:r>
              <a:rPr lang="en-US" sz="1100" dirty="0">
                <a:solidFill>
                  <a:srgbClr val="BFD2C4"/>
                </a:solidFill>
                <a:latin typeface="Arial" pitchFamily="34" charset="0"/>
                <a:ea typeface="Arial" pitchFamily="34" charset="-122"/>
                <a:cs typeface="Arial" pitchFamily="34" charset="-120"/>
              </a:rPr>
              <a:t>SCALE (two seasons, indicative)   Pilot 20,000 farmers · ₹5 lakh cost · ≈₹1.2 cr value protected @10%   →   District ≈₹12 cr   →   1 crore farmers ≈₹616 cr</a:t>
            </a:r>
            <a:endParaRPr lang="en-US" sz="1100" dirty="0"/>
          </a:p>
        </p:txBody>
      </p:sp>
      <p:sp>
        <p:nvSpPr>
          <p:cNvPr id="25" name="Text 23"/>
          <p:cNvSpPr/>
          <p:nvPr/>
        </p:nvSpPr>
        <p:spPr>
          <a:xfrm>
            <a:off x="594360" y="4114800"/>
            <a:ext cx="3200400" cy="182880"/>
          </a:xfrm>
          <a:prstGeom prst="rect">
            <a:avLst/>
          </a:prstGeom>
          <a:noFill/>
          <a:ln/>
        </p:spPr>
        <p:txBody>
          <a:bodyPr wrap="square" lIns="0" tIns="0" rIns="0" bIns="0" rtlCol="0" anchor="ctr"/>
          <a:lstStyle/>
          <a:p>
            <a:pPr indent="0" marL="0">
              <a:buNone/>
            </a:pPr>
            <a:r>
              <a:rPr lang="en-US" sz="1000" b="1" spc="60" kern="0" dirty="0">
                <a:solidFill>
                  <a:srgbClr val="E9A91B"/>
                </a:solidFill>
                <a:latin typeface="Arial" pitchFamily="34" charset="0"/>
                <a:ea typeface="Arial" pitchFamily="34" charset="-122"/>
                <a:cs typeface="Arial" pitchFamily="34" charset="-120"/>
              </a:rPr>
              <a:t>TO PILOT WE NEED</a:t>
            </a:r>
            <a:endParaRPr lang="en-US" sz="1000" dirty="0"/>
          </a:p>
        </p:txBody>
      </p:sp>
      <p:sp>
        <p:nvSpPr>
          <p:cNvPr id="26" name="Text 24"/>
          <p:cNvSpPr/>
          <p:nvPr/>
        </p:nvSpPr>
        <p:spPr>
          <a:xfrm>
            <a:off x="4297680" y="4114800"/>
            <a:ext cx="3200400" cy="182880"/>
          </a:xfrm>
          <a:prstGeom prst="rect">
            <a:avLst/>
          </a:prstGeom>
          <a:noFill/>
          <a:ln/>
        </p:spPr>
        <p:txBody>
          <a:bodyPr wrap="square" lIns="0" tIns="0" rIns="0" bIns="0" rtlCol="0" anchor="ctr"/>
          <a:lstStyle/>
          <a:p>
            <a:pPr indent="0" marL="0">
              <a:buNone/>
            </a:pPr>
            <a:r>
              <a:rPr lang="en-US" sz="1000" b="1" spc="60" kern="0" dirty="0">
                <a:solidFill>
                  <a:srgbClr val="E9A91B"/>
                </a:solidFill>
                <a:latin typeface="Arial" pitchFamily="34" charset="0"/>
                <a:ea typeface="Arial" pitchFamily="34" charset="-122"/>
                <a:cs typeface="Arial" pitchFamily="34" charset="-120"/>
              </a:rPr>
              <a:t>WE DELIVER</a:t>
            </a:r>
            <a:endParaRPr lang="en-US" sz="1000" dirty="0"/>
          </a:p>
        </p:txBody>
      </p:sp>
      <p:sp>
        <p:nvSpPr>
          <p:cNvPr id="27" name="Text 25"/>
          <p:cNvSpPr/>
          <p:nvPr/>
        </p:nvSpPr>
        <p:spPr>
          <a:xfrm>
            <a:off x="8001000" y="4114800"/>
            <a:ext cx="3200400" cy="182880"/>
          </a:xfrm>
          <a:prstGeom prst="rect">
            <a:avLst/>
          </a:prstGeom>
          <a:noFill/>
          <a:ln/>
        </p:spPr>
        <p:txBody>
          <a:bodyPr wrap="square" lIns="0" tIns="0" rIns="0" bIns="0" rtlCol="0" anchor="ctr"/>
          <a:lstStyle/>
          <a:p>
            <a:pPr indent="0" marL="0">
              <a:buNone/>
            </a:pPr>
            <a:r>
              <a:rPr lang="en-US" sz="1000" b="1" spc="60" kern="0" dirty="0">
                <a:solidFill>
                  <a:srgbClr val="E9A91B"/>
                </a:solidFill>
                <a:latin typeface="Arial" pitchFamily="34" charset="0"/>
                <a:ea typeface="Arial" pitchFamily="34" charset="-122"/>
                <a:cs typeface="Arial" pitchFamily="34" charset="-120"/>
              </a:rPr>
              <a:t>WE MEASURE</a:t>
            </a:r>
            <a:endParaRPr lang="en-US" sz="1000" dirty="0"/>
          </a:p>
        </p:txBody>
      </p:sp>
      <p:sp>
        <p:nvSpPr>
          <p:cNvPr id="28" name="Shape 26"/>
          <p:cNvSpPr/>
          <p:nvPr/>
        </p:nvSpPr>
        <p:spPr>
          <a:xfrm>
            <a:off x="4023360" y="4206240"/>
            <a:ext cx="9144" cy="1554480"/>
          </a:xfrm>
          <a:prstGeom prst="rect">
            <a:avLst/>
          </a:prstGeom>
          <a:solidFill>
            <a:srgbClr val="1F4A3A"/>
          </a:solidFill>
          <a:ln w="12700">
            <a:solidFill>
              <a:srgbClr val="1F4A3A"/>
            </a:solidFill>
            <a:prstDash val="solid"/>
          </a:ln>
        </p:spPr>
      </p:sp>
      <p:sp>
        <p:nvSpPr>
          <p:cNvPr id="29" name="Shape 27"/>
          <p:cNvSpPr/>
          <p:nvPr/>
        </p:nvSpPr>
        <p:spPr>
          <a:xfrm>
            <a:off x="7726680" y="4206240"/>
            <a:ext cx="9144" cy="1554480"/>
          </a:xfrm>
          <a:prstGeom prst="rect">
            <a:avLst/>
          </a:prstGeom>
          <a:solidFill>
            <a:srgbClr val="1F4A3A"/>
          </a:solidFill>
          <a:ln w="12700">
            <a:solidFill>
              <a:srgbClr val="1F4A3A"/>
            </a:solidFill>
            <a:prstDash val="solid"/>
          </a:ln>
        </p:spPr>
      </p:sp>
      <p:sp>
        <p:nvSpPr>
          <p:cNvPr id="30" name="Text 28"/>
          <p:cNvSpPr/>
          <p:nvPr/>
        </p:nvSpPr>
        <p:spPr>
          <a:xfrm>
            <a:off x="594360" y="4434840"/>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01</a:t>
            </a:r>
            <a:endParaRPr lang="en-US" sz="1200" dirty="0"/>
          </a:p>
        </p:txBody>
      </p:sp>
      <p:sp>
        <p:nvSpPr>
          <p:cNvPr id="31" name="Text 29"/>
          <p:cNvSpPr/>
          <p:nvPr/>
        </p:nvSpPr>
        <p:spPr>
          <a:xfrm>
            <a:off x="1005840" y="4434840"/>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Indian 1800 + SMS sender ID</a:t>
            </a:r>
            <a:endParaRPr lang="en-US" sz="1200" dirty="0"/>
          </a:p>
        </p:txBody>
      </p:sp>
      <p:sp>
        <p:nvSpPr>
          <p:cNvPr id="32" name="Text 30"/>
          <p:cNvSpPr/>
          <p:nvPr/>
        </p:nvSpPr>
        <p:spPr>
          <a:xfrm>
            <a:off x="594360" y="4690872"/>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02</a:t>
            </a:r>
            <a:endParaRPr lang="en-US" sz="1200" dirty="0"/>
          </a:p>
        </p:txBody>
      </p:sp>
      <p:sp>
        <p:nvSpPr>
          <p:cNvPr id="33" name="Text 31"/>
          <p:cNvSpPr/>
          <p:nvPr/>
        </p:nvSpPr>
        <p:spPr>
          <a:xfrm>
            <a:off x="1005840" y="4690872"/>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District review agenda slot</a:t>
            </a:r>
            <a:endParaRPr lang="en-US" sz="1200" dirty="0"/>
          </a:p>
        </p:txBody>
      </p:sp>
      <p:sp>
        <p:nvSpPr>
          <p:cNvPr id="34" name="Text 32"/>
          <p:cNvSpPr/>
          <p:nvPr/>
        </p:nvSpPr>
        <p:spPr>
          <a:xfrm>
            <a:off x="594360" y="4946904"/>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03</a:t>
            </a:r>
            <a:endParaRPr lang="en-US" sz="1200" dirty="0"/>
          </a:p>
        </p:txBody>
      </p:sp>
      <p:sp>
        <p:nvSpPr>
          <p:cNvPr id="35" name="Text 33"/>
          <p:cNvSpPr/>
          <p:nvPr/>
        </p:nvSpPr>
        <p:spPr>
          <a:xfrm>
            <a:off x="1005840" y="4946904"/>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≈₹5 lakh for two seasons</a:t>
            </a:r>
            <a:endParaRPr lang="en-US" sz="1200" dirty="0"/>
          </a:p>
        </p:txBody>
      </p:sp>
      <p:sp>
        <p:nvSpPr>
          <p:cNvPr id="36" name="Text 34"/>
          <p:cNvSpPr/>
          <p:nvPr/>
        </p:nvSpPr>
        <p:spPr>
          <a:xfrm>
            <a:off x="594360" y="5202936"/>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04</a:t>
            </a:r>
            <a:endParaRPr lang="en-US" sz="1200" dirty="0"/>
          </a:p>
        </p:txBody>
      </p:sp>
      <p:sp>
        <p:nvSpPr>
          <p:cNvPr id="37" name="Text 35"/>
          <p:cNvSpPr/>
          <p:nvPr/>
        </p:nvSpPr>
        <p:spPr>
          <a:xfrm>
            <a:off x="1005840" y="5202936"/>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Existing farmer IDs for signup</a:t>
            </a:r>
            <a:endParaRPr lang="en-US" sz="1200" dirty="0"/>
          </a:p>
        </p:txBody>
      </p:sp>
      <p:sp>
        <p:nvSpPr>
          <p:cNvPr id="38" name="Text 36"/>
          <p:cNvSpPr/>
          <p:nvPr/>
        </p:nvSpPr>
        <p:spPr>
          <a:xfrm>
            <a:off x="594360" y="5458968"/>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05</a:t>
            </a:r>
            <a:endParaRPr lang="en-US" sz="1200" dirty="0"/>
          </a:p>
        </p:txBody>
      </p:sp>
      <p:sp>
        <p:nvSpPr>
          <p:cNvPr id="39" name="Text 37"/>
          <p:cNvSpPr/>
          <p:nvPr/>
        </p:nvSpPr>
        <p:spPr>
          <a:xfrm>
            <a:off x="1005840" y="5458968"/>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Green light to plug into KCC / NPSS</a:t>
            </a:r>
            <a:endParaRPr lang="en-US" sz="1200" dirty="0"/>
          </a:p>
        </p:txBody>
      </p:sp>
      <p:sp>
        <p:nvSpPr>
          <p:cNvPr id="40" name="Text 38"/>
          <p:cNvSpPr/>
          <p:nvPr/>
        </p:nvSpPr>
        <p:spPr>
          <a:xfrm>
            <a:off x="4297680" y="4434840"/>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01</a:t>
            </a:r>
            <a:endParaRPr lang="en-US" sz="1200" dirty="0"/>
          </a:p>
        </p:txBody>
      </p:sp>
      <p:sp>
        <p:nvSpPr>
          <p:cNvPr id="41" name="Text 39"/>
          <p:cNvSpPr/>
          <p:nvPr/>
        </p:nvSpPr>
        <p:spPr>
          <a:xfrm>
            <a:off x="4709160" y="4434840"/>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Telugu-first voice / SMS onboarding</a:t>
            </a:r>
            <a:endParaRPr lang="en-US" sz="1200" dirty="0"/>
          </a:p>
        </p:txBody>
      </p:sp>
      <p:sp>
        <p:nvSpPr>
          <p:cNvPr id="42" name="Text 40"/>
          <p:cNvSpPr/>
          <p:nvPr/>
        </p:nvSpPr>
        <p:spPr>
          <a:xfrm>
            <a:off x="4297680" y="4690872"/>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02</a:t>
            </a:r>
            <a:endParaRPr lang="en-US" sz="1200" dirty="0"/>
          </a:p>
        </p:txBody>
      </p:sp>
      <p:sp>
        <p:nvSpPr>
          <p:cNvPr id="43" name="Text 41"/>
          <p:cNvSpPr/>
          <p:nvPr/>
        </p:nvSpPr>
        <p:spPr>
          <a:xfrm>
            <a:off x="4709160" y="4690872"/>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Local crop + data configuration</a:t>
            </a:r>
            <a:endParaRPr lang="en-US" sz="1200" dirty="0"/>
          </a:p>
        </p:txBody>
      </p:sp>
      <p:sp>
        <p:nvSpPr>
          <p:cNvPr id="44" name="Text 42"/>
          <p:cNvSpPr/>
          <p:nvPr/>
        </p:nvSpPr>
        <p:spPr>
          <a:xfrm>
            <a:off x="4297680" y="4946904"/>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03</a:t>
            </a:r>
            <a:endParaRPr lang="en-US" sz="1200" dirty="0"/>
          </a:p>
        </p:txBody>
      </p:sp>
      <p:sp>
        <p:nvSpPr>
          <p:cNvPr id="45" name="Text 43"/>
          <p:cNvSpPr/>
          <p:nvPr/>
        </p:nvSpPr>
        <p:spPr>
          <a:xfrm>
            <a:off x="4709160" y="4946904"/>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Safety + expert escalation SOP</a:t>
            </a:r>
            <a:endParaRPr lang="en-US" sz="1200" dirty="0"/>
          </a:p>
        </p:txBody>
      </p:sp>
      <p:sp>
        <p:nvSpPr>
          <p:cNvPr id="46" name="Text 44"/>
          <p:cNvSpPr/>
          <p:nvPr/>
        </p:nvSpPr>
        <p:spPr>
          <a:xfrm>
            <a:off x="4297680" y="5202936"/>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04</a:t>
            </a:r>
            <a:endParaRPr lang="en-US" sz="1200" dirty="0"/>
          </a:p>
        </p:txBody>
      </p:sp>
      <p:sp>
        <p:nvSpPr>
          <p:cNvPr id="47" name="Text 45"/>
          <p:cNvSpPr/>
          <p:nvPr/>
        </p:nvSpPr>
        <p:spPr>
          <a:xfrm>
            <a:off x="4709160" y="5202936"/>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Officer dashboard (live today)</a:t>
            </a:r>
            <a:endParaRPr lang="en-US" sz="1200" dirty="0"/>
          </a:p>
        </p:txBody>
      </p:sp>
      <p:sp>
        <p:nvSpPr>
          <p:cNvPr id="48" name="Text 46"/>
          <p:cNvSpPr/>
          <p:nvPr/>
        </p:nvSpPr>
        <p:spPr>
          <a:xfrm>
            <a:off x="4297680" y="5458968"/>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05</a:t>
            </a:r>
            <a:endParaRPr lang="en-US" sz="1200" dirty="0"/>
          </a:p>
        </p:txBody>
      </p:sp>
      <p:sp>
        <p:nvSpPr>
          <p:cNvPr id="49" name="Text 47"/>
          <p:cNvSpPr/>
          <p:nvPr/>
        </p:nvSpPr>
        <p:spPr>
          <a:xfrm>
            <a:off x="4709160" y="5458968"/>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Endline evidence report</a:t>
            </a:r>
            <a:endParaRPr lang="en-US" sz="1200" dirty="0"/>
          </a:p>
        </p:txBody>
      </p:sp>
      <p:sp>
        <p:nvSpPr>
          <p:cNvPr id="50" name="Text 48"/>
          <p:cNvSpPr/>
          <p:nvPr/>
        </p:nvSpPr>
        <p:spPr>
          <a:xfrm>
            <a:off x="8001000" y="4434840"/>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01</a:t>
            </a:r>
            <a:endParaRPr lang="en-US" sz="1200" dirty="0"/>
          </a:p>
        </p:txBody>
      </p:sp>
      <p:sp>
        <p:nvSpPr>
          <p:cNvPr id="51" name="Text 49"/>
          <p:cNvSpPr/>
          <p:nvPr/>
        </p:nvSpPr>
        <p:spPr>
          <a:xfrm>
            <a:off x="8412480" y="4434840"/>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Time to useful advice</a:t>
            </a:r>
            <a:endParaRPr lang="en-US" sz="1200" dirty="0"/>
          </a:p>
        </p:txBody>
      </p:sp>
      <p:sp>
        <p:nvSpPr>
          <p:cNvPr id="52" name="Text 50"/>
          <p:cNvSpPr/>
          <p:nvPr/>
        </p:nvSpPr>
        <p:spPr>
          <a:xfrm>
            <a:off x="8001000" y="4690872"/>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02</a:t>
            </a:r>
            <a:endParaRPr lang="en-US" sz="1200" dirty="0"/>
          </a:p>
        </p:txBody>
      </p:sp>
      <p:sp>
        <p:nvSpPr>
          <p:cNvPr id="53" name="Text 51"/>
          <p:cNvSpPr/>
          <p:nvPr/>
        </p:nvSpPr>
        <p:spPr>
          <a:xfrm>
            <a:off x="8412480" y="4690872"/>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Alerts acted on in 48 hours</a:t>
            </a:r>
            <a:endParaRPr lang="en-US" sz="1200" dirty="0"/>
          </a:p>
        </p:txBody>
      </p:sp>
      <p:sp>
        <p:nvSpPr>
          <p:cNvPr id="54" name="Text 52"/>
          <p:cNvSpPr/>
          <p:nvPr/>
        </p:nvSpPr>
        <p:spPr>
          <a:xfrm>
            <a:off x="8001000" y="4946904"/>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03</a:t>
            </a:r>
            <a:endParaRPr lang="en-US" sz="1200" dirty="0"/>
          </a:p>
        </p:txBody>
      </p:sp>
      <p:sp>
        <p:nvSpPr>
          <p:cNvPr id="55" name="Text 53"/>
          <p:cNvSpPr/>
          <p:nvPr/>
        </p:nvSpPr>
        <p:spPr>
          <a:xfrm>
            <a:off x="8412480" y="4946904"/>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Crop value saved per rupee</a:t>
            </a:r>
            <a:endParaRPr lang="en-US" sz="1200" dirty="0"/>
          </a:p>
        </p:txBody>
      </p:sp>
      <p:sp>
        <p:nvSpPr>
          <p:cNvPr id="56" name="Text 54"/>
          <p:cNvSpPr/>
          <p:nvPr/>
        </p:nvSpPr>
        <p:spPr>
          <a:xfrm>
            <a:off x="8001000" y="5202936"/>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04</a:t>
            </a:r>
            <a:endParaRPr lang="en-US" sz="1200" dirty="0"/>
          </a:p>
        </p:txBody>
      </p:sp>
      <p:sp>
        <p:nvSpPr>
          <p:cNvPr id="57" name="Text 55"/>
          <p:cNvSpPr/>
          <p:nvPr/>
        </p:nvSpPr>
        <p:spPr>
          <a:xfrm>
            <a:off x="8412480" y="5202936"/>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Expert SLA met</a:t>
            </a:r>
            <a:endParaRPr lang="en-US" sz="1200" dirty="0"/>
          </a:p>
        </p:txBody>
      </p:sp>
      <p:sp>
        <p:nvSpPr>
          <p:cNvPr id="58" name="Text 56"/>
          <p:cNvSpPr/>
          <p:nvPr/>
        </p:nvSpPr>
        <p:spPr>
          <a:xfrm>
            <a:off x="8001000" y="5458968"/>
            <a:ext cx="365760" cy="219456"/>
          </a:xfrm>
          <a:prstGeom prst="rect">
            <a:avLst/>
          </a:prstGeom>
          <a:noFill/>
          <a:ln/>
        </p:spPr>
        <p:txBody>
          <a:bodyPr wrap="square" lIns="0" tIns="0" rIns="0" bIns="0" rtlCol="0" anchor="ctr"/>
          <a:lstStyle/>
          <a:p>
            <a:pPr indent="0" marL="0">
              <a:buNone/>
            </a:pPr>
            <a:r>
              <a:rPr lang="en-US" sz="1200" b="1" dirty="0">
                <a:solidFill>
                  <a:srgbClr val="E9A91B"/>
                </a:solidFill>
                <a:latin typeface="Georgia" pitchFamily="34" charset="0"/>
                <a:ea typeface="Georgia" pitchFamily="34" charset="-122"/>
                <a:cs typeface="Georgia" pitchFamily="34" charset="-120"/>
              </a:rPr>
              <a:t>05</a:t>
            </a:r>
            <a:endParaRPr lang="en-US" sz="1200" dirty="0"/>
          </a:p>
        </p:txBody>
      </p:sp>
      <p:sp>
        <p:nvSpPr>
          <p:cNvPr id="59" name="Text 57"/>
          <p:cNvSpPr/>
          <p:nvPr/>
        </p:nvSpPr>
        <p:spPr>
          <a:xfrm>
            <a:off x="8412480" y="5458968"/>
            <a:ext cx="3017520" cy="219456"/>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Published vs control blocks</a:t>
            </a:r>
            <a:endParaRPr lang="en-US" sz="1200" dirty="0"/>
          </a:p>
        </p:txBody>
      </p:sp>
      <p:sp>
        <p:nvSpPr>
          <p:cNvPr id="60" name="Shape 58"/>
          <p:cNvSpPr/>
          <p:nvPr/>
        </p:nvSpPr>
        <p:spPr>
          <a:xfrm>
            <a:off x="0" y="5897880"/>
            <a:ext cx="12191695" cy="960120"/>
          </a:xfrm>
          <a:prstGeom prst="rect">
            <a:avLst/>
          </a:prstGeom>
          <a:solidFill>
            <a:srgbClr val="E9A91B"/>
          </a:solidFill>
          <a:ln w="12700">
            <a:solidFill>
              <a:srgbClr val="E9A91B"/>
            </a:solidFill>
            <a:prstDash val="solid"/>
          </a:ln>
        </p:spPr>
      </p:sp>
      <p:sp>
        <p:nvSpPr>
          <p:cNvPr id="61" name="Text 59"/>
          <p:cNvSpPr/>
          <p:nvPr/>
        </p:nvSpPr>
        <p:spPr>
          <a:xfrm>
            <a:off x="594360" y="6016752"/>
            <a:ext cx="1828800" cy="164592"/>
          </a:xfrm>
          <a:prstGeom prst="rect">
            <a:avLst/>
          </a:prstGeom>
          <a:noFill/>
          <a:ln/>
        </p:spPr>
        <p:txBody>
          <a:bodyPr wrap="square" lIns="0" tIns="0" rIns="0" bIns="0" rtlCol="0" anchor="ctr"/>
          <a:lstStyle/>
          <a:p>
            <a:pPr indent="0" marL="0">
              <a:buNone/>
            </a:pPr>
            <a:r>
              <a:rPr lang="en-US" sz="900" b="1" spc="60" kern="0" dirty="0">
                <a:solidFill>
                  <a:srgbClr val="08241B"/>
                </a:solidFill>
                <a:latin typeface="Arial" pitchFamily="34" charset="0"/>
                <a:ea typeface="Arial" pitchFamily="34" charset="-122"/>
                <a:cs typeface="Arial" pitchFamily="34" charset="-120"/>
              </a:rPr>
              <a:t>THE PATH</a:t>
            </a:r>
            <a:endParaRPr lang="en-US" sz="900" dirty="0"/>
          </a:p>
        </p:txBody>
      </p:sp>
      <p:sp>
        <p:nvSpPr>
          <p:cNvPr id="62" name="Text 60"/>
          <p:cNvSpPr/>
          <p:nvPr/>
        </p:nvSpPr>
        <p:spPr>
          <a:xfrm>
            <a:off x="594360" y="6236208"/>
            <a:ext cx="7772400" cy="256032"/>
          </a:xfrm>
          <a:prstGeom prst="rect">
            <a:avLst/>
          </a:prstGeom>
          <a:noFill/>
          <a:ln/>
        </p:spPr>
        <p:txBody>
          <a:bodyPr wrap="square" lIns="0" tIns="0" rIns="0" bIns="0" rtlCol="0" anchor="ctr"/>
          <a:lstStyle/>
          <a:p>
            <a:pPr indent="0" marL="0">
              <a:buNone/>
            </a:pPr>
            <a:r>
              <a:rPr lang="en-US" sz="1600" b="1" dirty="0">
                <a:solidFill>
                  <a:srgbClr val="08241B"/>
                </a:solidFill>
                <a:latin typeface="Georgia" pitchFamily="34" charset="0"/>
                <a:ea typeface="Georgia" pitchFamily="34" charset="-122"/>
                <a:cs typeface="Georgia" pitchFamily="34" charset="-120"/>
              </a:rPr>
              <a:t>Narasaraopet mandal  →  district  →  KCC / NPSS integration</a:t>
            </a:r>
            <a:endParaRPr lang="en-US" sz="1600" dirty="0"/>
          </a:p>
        </p:txBody>
      </p:sp>
      <p:sp>
        <p:nvSpPr>
          <p:cNvPr id="63" name="Text 61"/>
          <p:cNvSpPr/>
          <p:nvPr/>
        </p:nvSpPr>
        <p:spPr>
          <a:xfrm>
            <a:off x="594360" y="6510528"/>
            <a:ext cx="7315200" cy="164592"/>
          </a:xfrm>
          <a:prstGeom prst="rect">
            <a:avLst/>
          </a:prstGeom>
          <a:noFill/>
          <a:ln/>
        </p:spPr>
        <p:txBody>
          <a:bodyPr wrap="square" lIns="0" tIns="0" rIns="0" bIns="0" rtlCol="0" anchor="ctr"/>
          <a:lstStyle/>
          <a:p>
            <a:pPr indent="0" marL="0">
              <a:buNone/>
            </a:pPr>
            <a:r>
              <a:rPr lang="en-US" sz="1100" dirty="0">
                <a:solidFill>
                  <a:srgbClr val="103D2C"/>
                </a:solidFill>
                <a:latin typeface="Arial" pitchFamily="34" charset="0"/>
                <a:ea typeface="Arial" pitchFamily="34" charset="-122"/>
                <a:cs typeface="Arial" pitchFamily="34" charset="-120"/>
              </a:rPr>
              <a:t>Field impact will be measured—not assumed from the demo.</a:t>
            </a:r>
            <a:endParaRPr lang="en-US" sz="1100" dirty="0"/>
          </a:p>
        </p:txBody>
      </p:sp>
      <p:sp>
        <p:nvSpPr>
          <p:cNvPr id="64" name="Text 62"/>
          <p:cNvSpPr/>
          <p:nvPr/>
        </p:nvSpPr>
        <p:spPr>
          <a:xfrm>
            <a:off x="8595360" y="6080760"/>
            <a:ext cx="3017520" cy="502920"/>
          </a:xfrm>
          <a:prstGeom prst="rect">
            <a:avLst/>
          </a:prstGeom>
          <a:noFill/>
          <a:ln/>
        </p:spPr>
        <p:txBody>
          <a:bodyPr wrap="square" lIns="0" tIns="0" rIns="0" bIns="0" rtlCol="0" anchor="ctr"/>
          <a:lstStyle/>
          <a:p>
            <a:pPr algn="r" indent="0" marL="0">
              <a:buNone/>
            </a:pPr>
            <a:r>
              <a:rPr lang="en-US" sz="1600" b="1" dirty="0">
                <a:solidFill>
                  <a:srgbClr val="08241B"/>
                </a:solidFill>
                <a:latin typeface="Georgia" pitchFamily="34" charset="0"/>
                <a:ea typeface="Georgia" pitchFamily="34" charset="-122"/>
                <a:cs typeface="Georgia" pitchFamily="34" charset="-120"/>
              </a:rPr>
              <a:t>Nominate the block.</a:t>
            </a:r>
            <a:endParaRPr lang="en-US" sz="1600" dirty="0"/>
          </a:p>
          <a:p>
            <a:pPr algn="r" indent="0" marL="0">
              <a:buNone/>
            </a:pPr>
            <a:r>
              <a:rPr lang="en-US" sz="1600" b="1" dirty="0">
                <a:solidFill>
                  <a:srgbClr val="08241B"/>
                </a:solidFill>
                <a:latin typeface="Georgia" pitchFamily="34" charset="0"/>
                <a:ea typeface="Georgia" pitchFamily="34" charset="-122"/>
                <a:cs typeface="Georgia" pitchFamily="34" charset="-120"/>
              </a:rPr>
              <a:t>Judge the evidence.</a:t>
            </a:r>
            <a:endParaRPr lang="en-US" sz="1600" dirty="0"/>
          </a:p>
        </p:txBody>
      </p:sp>
      <p:sp>
        <p:nvSpPr>
          <p:cNvPr id="65" name="Text 63"/>
          <p:cNvSpPr/>
          <p:nvPr/>
        </p:nvSpPr>
        <p:spPr>
          <a:xfrm>
            <a:off x="594360" y="6720840"/>
            <a:ext cx="10058400" cy="109728"/>
          </a:xfrm>
          <a:prstGeom prst="rect">
            <a:avLst/>
          </a:prstGeom>
          <a:noFill/>
          <a:ln/>
        </p:spPr>
        <p:txBody>
          <a:bodyPr wrap="square" lIns="0" tIns="0" rIns="0" bIns="0" rtlCol="0" anchor="ctr"/>
          <a:lstStyle/>
          <a:p>
            <a:pPr indent="0" marL="0">
              <a:buNone/>
            </a:pPr>
            <a:r>
              <a:rPr lang="en-US" sz="620" dirty="0">
                <a:solidFill>
                  <a:srgbClr val="08241B"/>
                </a:solidFill>
                <a:latin typeface="Arial" pitchFamily="34" charset="0"/>
                <a:ea typeface="Arial" pitchFamily="34" charset="-122"/>
                <a:cs typeface="Arial" pitchFamily="34" charset="-120"/>
              </a:rPr>
              <a:t>Cost model at prevailing rates · ICAR loss base · Avaaj Otalo (ACM) · value protected is indicative @10% · scale only if evidence holds.</a:t>
            </a:r>
            <a:endParaRPr lang="en-US" sz="620" dirty="0"/>
          </a:p>
        </p:txBody>
      </p:sp>
      <p:sp>
        <p:nvSpPr>
          <p:cNvPr id="66" name="Text 64"/>
          <p:cNvSpPr/>
          <p:nvPr/>
        </p:nvSpPr>
        <p:spPr>
          <a:xfrm>
            <a:off x="11064240" y="6693408"/>
            <a:ext cx="640080" cy="128016"/>
          </a:xfrm>
          <a:prstGeom prst="rect">
            <a:avLst/>
          </a:prstGeom>
          <a:noFill/>
          <a:ln/>
        </p:spPr>
        <p:txBody>
          <a:bodyPr wrap="square" lIns="0" tIns="0" rIns="0" bIns="0" rtlCol="0" anchor="ctr"/>
          <a:lstStyle/>
          <a:p>
            <a:pPr algn="r" indent="0" marL="0">
              <a:buNone/>
            </a:pPr>
            <a:r>
              <a:rPr lang="en-US" sz="700" dirty="0">
                <a:solidFill>
                  <a:srgbClr val="08241B"/>
                </a:solidFill>
                <a:latin typeface="Arial" pitchFamily="34" charset="0"/>
                <a:ea typeface="Arial" pitchFamily="34" charset="-122"/>
                <a:cs typeface="Arial" pitchFamily="34" charset="-120"/>
              </a:rPr>
              <a:t>03 / 03</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Kisan Alert _ Vishwakarma Devs</dc:title>
  <dc:subject>Demo Day — fused visual + verified content</dc:subject>
  <dc:creator>Team Vishwakarma Devs</dc:creator>
  <cp:lastModifiedBy>Team Vishwakarma Devs</cp:lastModifiedBy>
  <cp:revision>1</cp:revision>
  <dcterms:created xsi:type="dcterms:W3CDTF">2026-07-19T23:06:58Z</dcterms:created>
  <dcterms:modified xsi:type="dcterms:W3CDTF">2026-07-19T23:06:58Z</dcterms:modified>
</cp:coreProperties>
</file>